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9966960" cy="4114800"/>
          </a:xfrm>
          <a:prstGeom prst="rect">
            <a:avLst/>
          </a:prstGeom>
          <a:noFill/>
        </p:spPr>
        <p:txBody>
          <a:bodyPr wrap="square">
            <a:spAutoFit/>
          </a:bodyPr>
          <a:lstStyle/>
          <a:p>
            <a:pPr>
              <a:defRPr sz="1300" b="1">
                <a:solidFill>
                  <a:srgbClr val="0284C7"/>
                </a:solidFill>
                <a:latin typeface="Segoe UI"/>
              </a:defRPr>
            </a:pPr>
            <a:r>
              <a:t>TẬP ĐOÀN BƯU CHÍNH VIỄN THÔNG VIỆT NAM (VNPT) — VNPT-VINAPHONE</a:t>
            </a:r>
          </a:p>
          <a:p>
            <a:pPr>
              <a:spcBef>
                <a:spcPts val="1600"/>
              </a:spcBef>
              <a:defRPr sz="3200" b="1">
                <a:solidFill>
                  <a:srgbClr val="FFFFFF"/>
                </a:solidFill>
                <a:latin typeface="Segoe UI"/>
              </a:defRPr>
            </a:pPr>
            <a:r>
              <a:t>ỨNG DỤNG AI &amp; TỰ ĐỘNG HÓA</a:t>
            </a:r>
            <a:br/>
            <a:r>
              <a:t>TRONG TIỀN KIỂM PHẢN ÁNH KHÁCH HÀNG</a:t>
            </a:r>
          </a:p>
          <a:p>
            <a:pPr>
              <a:spcBef>
                <a:spcPts val="1400"/>
              </a:spcBef>
              <a:defRPr sz="1400">
                <a:solidFill>
                  <a:srgbClr val="CBD5E1"/>
                </a:solidFill>
                <a:latin typeface="Segoe UI"/>
              </a:defRPr>
            </a:pPr>
            <a:r>
              <a:t>HỆ THỐNG TIỀN KIỂM 360° VNPT TTS PRECHECK &amp; CẨM NANG VẬN HÀNH 6 PHÂN HỆ</a:t>
            </a:r>
          </a:p>
          <a:p>
            <a:pPr>
              <a:spcBef>
                <a:spcPts val="2400"/>
              </a:spcBef>
              <a:defRPr sz="1100">
                <a:solidFill>
                  <a:srgbClr val="0284C7"/>
                </a:solidFill>
                <a:latin typeface="Segoe UI"/>
              </a:defRPr>
            </a:pPr>
            <a:r>
              <a:t>Khóa đào tạo chuyên sâu 5 tiếng (300 Phút) • Dành cho KTV Viễn thông Tỉnh/TP &amp; Điều hành SOC • Phiên bản 2026.04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GIÁO TRÌNH ĐÀO TẠO ỨNG DỤNG AI &amp; TIỀN KIỂM PAKH — VNPT TTS PRECHECK</a:t>
            </a:r>
          </a:p>
          <a:p>
            <a:pPr>
              <a:spcBef>
                <a:spcPts val="300"/>
              </a:spcBef>
              <a:defRPr sz="1800" b="1">
                <a:solidFill>
                  <a:srgbClr val="0A192F"/>
                </a:solidFill>
                <a:latin typeface="Segoe UI"/>
              </a:defRPr>
            </a:pPr>
            <a:r>
              <a:t>MỤC TIÊU KHÓA ĐÀO TẠO &amp; KHUNG TIẾN ĐỘ 5 TIẾNG (300 PHÚT)</a:t>
            </a:r>
          </a:p>
        </p:txBody>
      </p:sp>
      <p:sp>
        <p:nvSpPr>
          <p:cNvPr id="4" name="Rounded Rectangle 3"/>
          <p:cNvSpPr/>
          <p:nvPr/>
        </p:nvSpPr>
        <p:spPr>
          <a:xfrm>
            <a:off x="731520" y="1280160"/>
            <a:ext cx="2057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17320"/>
            <a:ext cx="1783080" cy="4663440"/>
          </a:xfrm>
          <a:prstGeom prst="rect">
            <a:avLst/>
          </a:prstGeom>
          <a:noFill/>
        </p:spPr>
        <p:txBody>
          <a:bodyPr wrap="square">
            <a:spAutoFit/>
          </a:bodyPr>
          <a:lstStyle/>
          <a:p>
            <a:pPr>
              <a:defRPr b="1" sz="1000">
                <a:solidFill>
                  <a:srgbClr val="0284C7"/>
                </a:solidFill>
                <a:latin typeface="Segoe UI"/>
              </a:defRPr>
            </a:pPr>
            <a:r>
              <a:t>45 PHÚT</a:t>
            </a:r>
          </a:p>
          <a:p>
            <a:pPr>
              <a:spcBef>
                <a:spcPts val="400"/>
              </a:spcBef>
              <a:defRPr b="1" sz="1100">
                <a:solidFill>
                  <a:srgbClr val="0A192F"/>
                </a:solidFill>
                <a:latin typeface="Segoe UI"/>
              </a:defRPr>
            </a:pPr>
            <a:r>
              <a:t>PHẦN I: TỔNG QUAN &amp; AI</a:t>
            </a:r>
          </a:p>
          <a:p>
            <a:pPr>
              <a:spcBef>
                <a:spcPts val="1000"/>
              </a:spcBef>
              <a:defRPr sz="950">
                <a:solidFill>
                  <a:srgbClr val="0F172A"/>
                </a:solidFill>
                <a:latin typeface="Segoe UI"/>
              </a:defRPr>
            </a:pPr>
            <a:r>
              <a:t>• Thực trạng thủ công vs Digital Copilot</a:t>
            </a:r>
            <a:br/>
            <a:r>
              <a:t>• Kiến trúc 3 tầng: NLP, Đa luồng, Bypass</a:t>
            </a:r>
            <a:br/>
            <a:r>
              <a:t>• Bản đồ 7 hệ thống vệ tinh viễn thông</a:t>
            </a:r>
          </a:p>
        </p:txBody>
      </p:sp>
      <p:sp>
        <p:nvSpPr>
          <p:cNvPr id="6" name="Rounded Rectangle 5"/>
          <p:cNvSpPr/>
          <p:nvPr/>
        </p:nvSpPr>
        <p:spPr>
          <a:xfrm>
            <a:off x="2926080" y="1280160"/>
            <a:ext cx="2057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40" y="1417320"/>
            <a:ext cx="1783080" cy="4663440"/>
          </a:xfrm>
          <a:prstGeom prst="rect">
            <a:avLst/>
          </a:prstGeom>
          <a:noFill/>
        </p:spPr>
        <p:txBody>
          <a:bodyPr wrap="square">
            <a:spAutoFit/>
          </a:bodyPr>
          <a:lstStyle/>
          <a:p>
            <a:pPr>
              <a:defRPr b="1" sz="1000">
                <a:solidFill>
                  <a:srgbClr val="0284C7"/>
                </a:solidFill>
                <a:latin typeface="Segoe UI"/>
              </a:defRPr>
            </a:pPr>
            <a:r>
              <a:t>60 PHÚT</a:t>
            </a:r>
          </a:p>
          <a:p>
            <a:pPr>
              <a:spcBef>
                <a:spcPts val="400"/>
              </a:spcBef>
              <a:defRPr b="1" sz="1100">
                <a:solidFill>
                  <a:srgbClr val="0A192F"/>
                </a:solidFill>
                <a:latin typeface="Segoe UI"/>
              </a:defRPr>
            </a:pPr>
            <a:r>
              <a:t>PHẦN II: THƯ VIỆN &amp; LUẬT</a:t>
            </a:r>
          </a:p>
          <a:p>
            <a:pPr>
              <a:spcBef>
                <a:spcPts val="1000"/>
              </a:spcBef>
              <a:defRPr sz="950">
                <a:solidFill>
                  <a:srgbClr val="0F172A"/>
                </a:solidFill>
                <a:latin typeface="Segoe UI"/>
              </a:defRPr>
            </a:pPr>
            <a:r>
              <a:t>• serviceid.json (Ma trận bóp, ODA_BIG_OCS)</a:t>
            </a:r>
            <a:br/>
            <a:r>
              <a:t>• rattype.json &amp; Thuật toán rớt sóng</a:t>
            </a:r>
            <a:br/>
            <a:r>
              <a:t>• Phân tích sâu 7 kịch bản chẩn đoán</a:t>
            </a:r>
          </a:p>
        </p:txBody>
      </p:sp>
      <p:sp>
        <p:nvSpPr>
          <p:cNvPr id="8" name="Rounded Rectangle 7"/>
          <p:cNvSpPr/>
          <p:nvPr/>
        </p:nvSpPr>
        <p:spPr>
          <a:xfrm>
            <a:off x="5120640" y="1280160"/>
            <a:ext cx="2057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57800" y="1417320"/>
            <a:ext cx="1783080" cy="4663440"/>
          </a:xfrm>
          <a:prstGeom prst="rect">
            <a:avLst/>
          </a:prstGeom>
          <a:noFill/>
        </p:spPr>
        <p:txBody>
          <a:bodyPr wrap="square">
            <a:spAutoFit/>
          </a:bodyPr>
          <a:lstStyle/>
          <a:p>
            <a:pPr>
              <a:defRPr b="1" sz="1000">
                <a:solidFill>
                  <a:srgbClr val="0284C7"/>
                </a:solidFill>
                <a:latin typeface="Segoe UI"/>
              </a:defRPr>
            </a:pPr>
            <a:r>
              <a:t>90 PHÚT</a:t>
            </a:r>
          </a:p>
          <a:p>
            <a:pPr>
              <a:spcBef>
                <a:spcPts val="400"/>
              </a:spcBef>
              <a:defRPr b="1" sz="1100">
                <a:solidFill>
                  <a:srgbClr val="0A192F"/>
                </a:solidFill>
                <a:latin typeface="Segoe UI"/>
              </a:defRPr>
            </a:pPr>
            <a:r>
              <a:t>PHẦN III: 6 PHÂN HỆ [TRỌNG TÂM]</a:t>
            </a:r>
          </a:p>
          <a:p>
            <a:pPr>
              <a:spcBef>
                <a:spcPts val="1000"/>
              </a:spcBef>
              <a:defRPr sz="950">
                <a:solidFill>
                  <a:srgbClr val="0F172A"/>
                </a:solidFill>
                <a:latin typeface="Segoe UI"/>
              </a:defRPr>
            </a:pPr>
            <a:r>
              <a:t>• Mobile Internet 3 Card &amp; Ca mạng chậm</a:t>
            </a:r>
            <a:br/>
            <a:r>
              <a:t>• Thoại (VoLTE/NAM), Chặn Spam NĐ 91</a:t>
            </a:r>
            <a:br/>
            <a:r>
              <a:t>• SMSC CDR thời gian thực, Roaming &amp; SOC</a:t>
            </a:r>
          </a:p>
        </p:txBody>
      </p:sp>
      <p:sp>
        <p:nvSpPr>
          <p:cNvPr id="10" name="Rounded Rectangle 9"/>
          <p:cNvSpPr/>
          <p:nvPr/>
        </p:nvSpPr>
        <p:spPr>
          <a:xfrm>
            <a:off x="7315199" y="1280160"/>
            <a:ext cx="2057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59" y="1417320"/>
            <a:ext cx="1783080" cy="4663440"/>
          </a:xfrm>
          <a:prstGeom prst="rect">
            <a:avLst/>
          </a:prstGeom>
          <a:noFill/>
        </p:spPr>
        <p:txBody>
          <a:bodyPr wrap="square">
            <a:spAutoFit/>
          </a:bodyPr>
          <a:lstStyle/>
          <a:p>
            <a:pPr>
              <a:defRPr b="1" sz="1000">
                <a:solidFill>
                  <a:srgbClr val="0284C7"/>
                </a:solidFill>
                <a:latin typeface="Segoe UI"/>
              </a:defRPr>
            </a:pPr>
            <a:r>
              <a:t>45 PHÚT</a:t>
            </a:r>
          </a:p>
          <a:p>
            <a:pPr>
              <a:spcBef>
                <a:spcPts val="400"/>
              </a:spcBef>
              <a:defRPr b="1" sz="1100">
                <a:solidFill>
                  <a:srgbClr val="0A192F"/>
                </a:solidFill>
                <a:latin typeface="Segoe UI"/>
              </a:defRPr>
            </a:pPr>
            <a:r>
              <a:t>PHẦN IV: ĐÓNG PHIẾU 5.1</a:t>
            </a:r>
          </a:p>
          <a:p>
            <a:pPr>
              <a:spcBef>
                <a:spcPts val="1000"/>
              </a:spcBef>
              <a:defRPr sz="950">
                <a:solidFill>
                  <a:srgbClr val="0F172A"/>
                </a:solidFill>
                <a:latin typeface="Segoe UI"/>
              </a:defRPr>
            </a:pPr>
            <a:r>
              <a:t>• Địa giới 2 cấp [Phường/Xã], [Tỉnh/TP]</a:t>
            </a:r>
            <a:br/>
            <a:r>
              <a:t>• Bảng 34 Tỉnh/TP mới, 1-click GPS trạm</a:t>
            </a:r>
            <a:br/>
            <a:r>
              <a:t>• Cheatsheet 73 mã OneOSS &amp; Auto-Close</a:t>
            </a:r>
          </a:p>
        </p:txBody>
      </p:sp>
      <p:sp>
        <p:nvSpPr>
          <p:cNvPr id="12" name="Rounded Rectangle 11"/>
          <p:cNvSpPr/>
          <p:nvPr/>
        </p:nvSpPr>
        <p:spPr>
          <a:xfrm>
            <a:off x="9509760" y="1280160"/>
            <a:ext cx="2057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20" y="1417320"/>
            <a:ext cx="1783080" cy="4663440"/>
          </a:xfrm>
          <a:prstGeom prst="rect">
            <a:avLst/>
          </a:prstGeom>
          <a:noFill/>
        </p:spPr>
        <p:txBody>
          <a:bodyPr wrap="square">
            <a:spAutoFit/>
          </a:bodyPr>
          <a:lstStyle/>
          <a:p>
            <a:pPr>
              <a:defRPr b="1" sz="1000">
                <a:solidFill>
                  <a:srgbClr val="0284C7"/>
                </a:solidFill>
                <a:latin typeface="Segoe UI"/>
              </a:defRPr>
            </a:pPr>
            <a:r>
              <a:t>45 PHÚT</a:t>
            </a:r>
          </a:p>
          <a:p>
            <a:pPr>
              <a:spcBef>
                <a:spcPts val="400"/>
              </a:spcBef>
              <a:defRPr b="1" sz="1100">
                <a:solidFill>
                  <a:srgbClr val="0A192F"/>
                </a:solidFill>
                <a:latin typeface="Segoe UI"/>
              </a:defRPr>
            </a:pPr>
            <a:r>
              <a:t>PHẦN V: LAB &amp; TEST</a:t>
            </a:r>
          </a:p>
          <a:p>
            <a:pPr>
              <a:spcBef>
                <a:spcPts val="1000"/>
              </a:spcBef>
              <a:defRPr sz="950">
                <a:solidFill>
                  <a:srgbClr val="0F172A"/>
                </a:solidFill>
                <a:latin typeface="Segoe UI"/>
              </a:defRPr>
            </a:pPr>
            <a:r>
              <a:t>• Hands-on Lab 2 bài tập tình huống lớn</a:t>
            </a:r>
            <a:br/>
            <a:r>
              <a:t>• Bài kiểm tra trắc nghiệm 10 câu</a:t>
            </a:r>
            <a:br/>
            <a:r>
              <a:t>• Giải đáp vướng mắc &amp; Tổng kết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 TỔNG QUAN, BỐI CẢNH &amp; KIẾN TRÚC HYBRID AI</a:t>
            </a:r>
          </a:p>
          <a:p>
            <a:pPr>
              <a:spcBef>
                <a:spcPts val="300"/>
              </a:spcBef>
              <a:defRPr sz="1800" b="1">
                <a:solidFill>
                  <a:srgbClr val="0A192F"/>
                </a:solidFill>
                <a:latin typeface="Segoe UI"/>
              </a:defRPr>
            </a:pPr>
            <a:r>
              <a:t>PHẦN I: BỐI CẢNH XỬ LÝ THỦ CÔNG VS MÔ HÌNH AI THỰC CHIẾN (15 PHÚT)</a:t>
            </a:r>
          </a:p>
        </p:txBody>
      </p:sp>
      <p:sp>
        <p:nvSpPr>
          <p:cNvPr id="4" name="Rounded Rectangle 3"/>
          <p:cNvSpPr/>
          <p:nvPr/>
        </p:nvSpPr>
        <p:spPr>
          <a:xfrm>
            <a:off x="731520" y="128016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4846320" cy="4572000"/>
          </a:xfrm>
          <a:prstGeom prst="rect">
            <a:avLst/>
          </a:prstGeom>
          <a:noFill/>
        </p:spPr>
        <p:txBody>
          <a:bodyPr wrap="square">
            <a:spAutoFit/>
          </a:bodyPr>
          <a:lstStyle/>
          <a:p>
            <a:pPr>
              <a:defRPr b="1" sz="1300">
                <a:solidFill>
                  <a:srgbClr val="DC2626"/>
                </a:solidFill>
                <a:latin typeface="Segoe UI"/>
              </a:defRPr>
            </a:pPr>
            <a:r>
              <a:t>THỰC TRẠNG QUY TRÌNH THỦ CÔNG</a:t>
            </a:r>
          </a:p>
          <a:p>
            <a:pPr>
              <a:spcBef>
                <a:spcPts val="1200"/>
              </a:spcBef>
              <a:defRPr sz="1100">
                <a:solidFill>
                  <a:srgbClr val="0F172A"/>
                </a:solidFill>
                <a:latin typeface="Segoe UI"/>
              </a:defRPr>
            </a:pPr>
            <a:r>
              <a:t>• Mở phân tán 5-7 tab: OneOSS TTS, BTools, SAPC Core, CEM vô tuyến, CCOS...</a:t>
            </a:r>
            <a:br/>
            <a:br/>
            <a:r>
              <a:t>• Thời gian kéo dài: Mất 5 - 10 phút/phiếu, KTV phải tự copy paste số điện thoại qua từng hệ thống.</a:t>
            </a:r>
            <a:br/>
            <a:br/>
            <a:r>
              <a:t>• Dễ sai lệch do cảm tính: Cùng 1 ca hết dung lượng bóp tốc độ nhưng 2 KTV chọn 2 mã nguyên nhân khác nhau.</a:t>
            </a:r>
            <a:br/>
            <a:br/>
            <a:r>
              <a:t>• Nguy cơ vỡ SLA: Khi mạng lưới phát sinh sự cố diện rộng, hàng trăm phiếu tồn đọng gây quá tải trầm trọng.</a:t>
            </a:r>
          </a:p>
        </p:txBody>
      </p:sp>
      <p:sp>
        <p:nvSpPr>
          <p:cNvPr id="6" name="Rounded Rectangle 5"/>
          <p:cNvSpPr/>
          <p:nvPr/>
        </p:nvSpPr>
        <p:spPr>
          <a:xfrm>
            <a:off x="6217920" y="128016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63040"/>
            <a:ext cx="4846320" cy="4572000"/>
          </a:xfrm>
          <a:prstGeom prst="rect">
            <a:avLst/>
          </a:prstGeom>
          <a:noFill/>
        </p:spPr>
        <p:txBody>
          <a:bodyPr wrap="square">
            <a:spAutoFit/>
          </a:bodyPr>
          <a:lstStyle/>
          <a:p>
            <a:pPr>
              <a:defRPr b="1" sz="1300">
                <a:solidFill>
                  <a:srgbClr val="16A34A"/>
                </a:solidFill>
                <a:latin typeface="Segoe UI"/>
              </a:defRPr>
            </a:pPr>
            <a:r>
              <a:t>MÔ HÌNH AI THỰC CHIẾN = DIGITAL COPILOT</a:t>
            </a:r>
          </a:p>
          <a:p>
            <a:pPr>
              <a:spcBef>
                <a:spcPts val="1200"/>
              </a:spcBef>
              <a:defRPr sz="1100">
                <a:solidFill>
                  <a:srgbClr val="0F172A"/>
                </a:solidFill>
                <a:latin typeface="Segoe UI"/>
              </a:defRPr>
            </a:pPr>
            <a:r>
              <a:t>• KHÔNG PHẢI CHATBOT: Tuyệt đối không dùng prompt ném cho ChatGPT/LLM thuần túy vì AI sẽ 'bịa' do thiếu log mạng thật.</a:t>
            </a:r>
            <a:br/>
            <a:br/>
            <a:r>
              <a:t>• CÔNG THỨC AI THỰC CHIẾN:</a:t>
            </a:r>
            <a:br/>
            <a:r>
              <a:t>  AI Đọc Hiểu (NLP) + Log Mạng Thật + Rule Engine Chuyên Gia</a:t>
            </a:r>
            <a:br/>
            <a:br/>
            <a:r>
              <a:t>• TRỢ LÝ KỸ SƯ SỐ (COPILOT):</a:t>
            </a:r>
            <a:br/>
            <a:r>
              <a:t>  1. Hiểu khách nói gì trong 0.005s (ai_interpreter.py)</a:t>
            </a:r>
            <a:br/>
            <a:r>
              <a:t>  2. Tự đi cào đủ 4 hệ thống Core trong 1.0 - 1.5s</a:t>
            </a:r>
            <a:br/>
            <a:r>
              <a:t>  3. Đối chiếu chứng cứ kỹ thuật &amp; đề xuất mã OneOSS chuẩn.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 TỔNG QUAN, BỐI CẢNH &amp; KIẾN TRÚC HYBRID AI</a:t>
            </a:r>
          </a:p>
          <a:p>
            <a:pPr>
              <a:spcBef>
                <a:spcPts val="300"/>
              </a:spcBef>
              <a:defRPr sz="1800" b="1">
                <a:solidFill>
                  <a:srgbClr val="0A192F"/>
                </a:solidFill>
                <a:latin typeface="Segoe UI"/>
              </a:defRPr>
            </a:pPr>
            <a:r>
              <a:t>PHẦN I: KIẾN TRÚC 3 TẦNG HYBRID AI TRONG XỬ LÝ PAKH (30 PHÚT)</a:t>
            </a:r>
          </a:p>
        </p:txBody>
      </p:sp>
      <p:sp>
        <p:nvSpPr>
          <p:cNvPr id="4" name="Rounded Rectangle 3"/>
          <p:cNvSpPr/>
          <p:nvPr/>
        </p:nvSpPr>
        <p:spPr>
          <a:xfrm>
            <a:off x="731520" y="128016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17320"/>
            <a:ext cx="10149840" cy="1234440"/>
          </a:xfrm>
          <a:prstGeom prst="rect">
            <a:avLst/>
          </a:prstGeom>
          <a:noFill/>
        </p:spPr>
        <p:txBody>
          <a:bodyPr wrap="square">
            <a:spAutoFit/>
          </a:bodyPr>
          <a:lstStyle/>
          <a:p>
            <a:pPr>
              <a:defRPr b="1" sz="1200">
                <a:solidFill>
                  <a:srgbClr val="0052A5"/>
                </a:solidFill>
                <a:latin typeface="Segoe UI"/>
              </a:defRPr>
            </a:pPr>
            <a:r>
              <a:t>TẦNG 1: ĐỌC HIỂU NGÔN NGỮ TỰ NHIÊN (NLP)</a:t>
            </a:r>
          </a:p>
          <a:p>
            <a:pPr>
              <a:spcBef>
                <a:spcPts val="400"/>
              </a:spcBef>
              <a:defRPr sz="1000">
                <a:solidFill>
                  <a:srgbClr val="0F172A"/>
                </a:solidFill>
                <a:latin typeface="Segoe UI"/>
              </a:defRPr>
            </a:pPr>
            <a:r>
              <a:t>• Chuyển ngôn ngữ đời thường sang tham số kỹ thuật:</a:t>
            </a:r>
            <a:br/>
            <a:r>
              <a:t>  'mạng quay tít thò lò sáng nay' ➔ issue_type: data_slow | mốc: sáng nay</a:t>
            </a:r>
            <a:br/>
            <a:r>
              <a:t>  'ở phú quốc sóng 1 vạch' ➔ địa bàn: đặc thù biển đảo | sóng yếu</a:t>
            </a:r>
            <a:br/>
            <a:r>
              <a:t>• Bộ đệm AI Caching (ai_cache.json): Phản hồi 0.005s, tiết kiệm 95% token.</a:t>
            </a:r>
          </a:p>
        </p:txBody>
      </p:sp>
      <p:sp>
        <p:nvSpPr>
          <p:cNvPr id="6" name="Rounded Rectangle 5"/>
          <p:cNvSpPr/>
          <p:nvPr/>
        </p:nvSpPr>
        <p:spPr>
          <a:xfrm>
            <a:off x="731520" y="297180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108960"/>
            <a:ext cx="10149840" cy="1234440"/>
          </a:xfrm>
          <a:prstGeom prst="rect">
            <a:avLst/>
          </a:prstGeom>
          <a:noFill/>
        </p:spPr>
        <p:txBody>
          <a:bodyPr wrap="square">
            <a:spAutoFit/>
          </a:bodyPr>
          <a:lstStyle/>
          <a:p>
            <a:pPr>
              <a:defRPr b="1" sz="1200">
                <a:solidFill>
                  <a:srgbClr val="0284C7"/>
                </a:solidFill>
                <a:latin typeface="Segoe UI"/>
              </a:defRPr>
            </a:pPr>
            <a:r>
              <a:t>TẦNG 2: THU THẬP ĐA NGUỒN (HIGH-CONCURRENCY)</a:t>
            </a:r>
          </a:p>
          <a:p>
            <a:pPr>
              <a:spcBef>
                <a:spcPts val="400"/>
              </a:spcBef>
              <a:defRPr sz="1000">
                <a:solidFill>
                  <a:srgbClr val="0F172A"/>
                </a:solidFill>
                <a:latin typeface="Segoe UI"/>
              </a:defRPr>
            </a:pPr>
            <a:r>
              <a:t>• Đa luồng 2 cấp độ cực đại:</a:t>
            </a:r>
            <a:br/>
            <a:r>
              <a:t>  - Cấp danh sách: Quét đồng thời 8 thuê bao qua ThreadPoolExecutor.</a:t>
            </a:r>
            <a:br/>
            <a:r>
              <a:t>  - Cấp thuê bao: 3 luồng con song song (BTools + SAPC + CEM).</a:t>
            </a:r>
            <a:br/>
            <a:r>
              <a:t>• Toàn bộ chứng cứ hoàn tất chỉ trong 1.0 – 1.5 giây.</a:t>
            </a:r>
          </a:p>
        </p:txBody>
      </p:sp>
      <p:sp>
        <p:nvSpPr>
          <p:cNvPr id="8" name="Rounded Rectangle 7"/>
          <p:cNvSpPr/>
          <p:nvPr/>
        </p:nvSpPr>
        <p:spPr>
          <a:xfrm>
            <a:off x="731520" y="466344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10149840" cy="1234440"/>
          </a:xfrm>
          <a:prstGeom prst="rect">
            <a:avLst/>
          </a:prstGeom>
          <a:noFill/>
        </p:spPr>
        <p:txBody>
          <a:bodyPr wrap="square">
            <a:spAutoFit/>
          </a:bodyPr>
          <a:lstStyle/>
          <a:p>
            <a:pPr>
              <a:defRPr b="1" sz="1200">
                <a:solidFill>
                  <a:srgbClr val="0A192F"/>
                </a:solidFill>
                <a:latin typeface="Segoe UI"/>
              </a:defRPr>
            </a:pPr>
            <a:r>
              <a:t>TẦNG 3: BYPASS THÔNG MINH PHI-DATA</a:t>
            </a:r>
          </a:p>
          <a:p>
            <a:pPr>
              <a:spcBef>
                <a:spcPts val="400"/>
              </a:spcBef>
              <a:defRPr sz="1000">
                <a:solidFill>
                  <a:srgbClr val="0F172A"/>
                </a:solidFill>
                <a:latin typeface="Segoe UI"/>
              </a:defRPr>
            </a:pPr>
            <a:r>
              <a:t>• Phân loại thông minh: Phiếu Thoại (Voice) và Tin nhắn (SMS) tự động bỏ qua BTools và CEM.</a:t>
            </a:r>
            <a:br/>
            <a:r>
              <a:t>• Chỉ truy vấn Core HSS và cờ NAM ➔ Giảm thời gian kiểm tra xuống &lt; 1s, chống nghẽn phiên BTools.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 TỔNG QUAN, BỐI CẢNH &amp; KIẾN TRÚC HYBRID AI</a:t>
            </a:r>
          </a:p>
          <a:p>
            <a:pPr>
              <a:spcBef>
                <a:spcPts val="300"/>
              </a:spcBef>
              <a:defRPr sz="1800" b="1">
                <a:solidFill>
                  <a:srgbClr val="0A192F"/>
                </a:solidFill>
                <a:latin typeface="Segoe UI"/>
              </a:defRPr>
            </a:pPr>
            <a:r>
              <a:t>PHẦN I: BẢN ĐỒ KẾT NỐI 7 HỆ THỐNG VỆ TINH VIỄN THÔNG</a:t>
            </a:r>
          </a:p>
        </p:txBody>
      </p:sp>
      <p:sp>
        <p:nvSpPr>
          <p:cNvPr id="4" name="Rounded Rectangle 3"/>
          <p:cNvSpPr/>
          <p:nvPr/>
        </p:nvSpPr>
        <p:spPr>
          <a:xfrm>
            <a:off x="731520" y="1280160"/>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17320"/>
            <a:ext cx="3200400" cy="2011680"/>
          </a:xfrm>
          <a:prstGeom prst="rect">
            <a:avLst/>
          </a:prstGeom>
          <a:noFill/>
        </p:spPr>
        <p:txBody>
          <a:bodyPr wrap="square">
            <a:spAutoFit/>
          </a:bodyPr>
          <a:lstStyle/>
          <a:p>
            <a:pPr>
              <a:defRPr b="1" sz="1100">
                <a:solidFill>
                  <a:srgbClr val="0A192F"/>
                </a:solidFill>
                <a:latin typeface="Segoe UI"/>
              </a:defRPr>
            </a:pPr>
            <a:r>
              <a:t>1. OneOSS TTS (Mới &amp; Cũ)</a:t>
            </a:r>
          </a:p>
          <a:p>
            <a:pPr>
              <a:spcBef>
                <a:spcPts val="200"/>
              </a:spcBef>
              <a:defRPr b="1" sz="950">
                <a:solidFill>
                  <a:srgbClr val="0284C7"/>
                </a:solidFill>
                <a:latin typeface="Segoe UI"/>
              </a:defRPr>
            </a:pPr>
            <a:r>
              <a:t>https://ttsnew.vnpt.vn</a:t>
            </a:r>
          </a:p>
          <a:p>
            <a:pPr>
              <a:spcBef>
                <a:spcPts val="600"/>
              </a:spcBef>
              <a:defRPr sz="900">
                <a:solidFill>
                  <a:srgbClr val="0F172A"/>
                </a:solidFill>
                <a:latin typeface="Segoe UI"/>
              </a:defRPr>
            </a:pPr>
            <a:r>
              <a:t>Cào danh sách phản ánh theo phân vùng KTV, cập nhật trạng thái phiếu và đóng phiếu chuẩn 5 cấp.</a:t>
            </a:r>
          </a:p>
        </p:txBody>
      </p:sp>
      <p:sp>
        <p:nvSpPr>
          <p:cNvPr id="6" name="Rounded Rectangle 5"/>
          <p:cNvSpPr/>
          <p:nvPr/>
        </p:nvSpPr>
        <p:spPr>
          <a:xfrm>
            <a:off x="4343400" y="1280160"/>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480560" y="1417320"/>
            <a:ext cx="3200400" cy="2011680"/>
          </a:xfrm>
          <a:prstGeom prst="rect">
            <a:avLst/>
          </a:prstGeom>
          <a:noFill/>
        </p:spPr>
        <p:txBody>
          <a:bodyPr wrap="square">
            <a:spAutoFit/>
          </a:bodyPr>
          <a:lstStyle/>
          <a:p>
            <a:pPr>
              <a:defRPr b="1" sz="1100">
                <a:solidFill>
                  <a:srgbClr val="0A192F"/>
                </a:solidFill>
                <a:latin typeface="Segoe UI"/>
              </a:defRPr>
            </a:pPr>
            <a:r>
              <a:t>2. Core SAPC / PCRF</a:t>
            </a:r>
          </a:p>
          <a:p>
            <a:pPr>
              <a:spcBef>
                <a:spcPts val="200"/>
              </a:spcBef>
              <a:defRPr b="1" sz="950">
                <a:solidFill>
                  <a:srgbClr val="0284C7"/>
                </a:solidFill>
                <a:latin typeface="Segoe UI"/>
              </a:defRPr>
            </a:pPr>
            <a:r>
              <a:t>10.155.42.218</a:t>
            </a:r>
          </a:p>
          <a:p>
            <a:pPr>
              <a:spcBef>
                <a:spcPts val="600"/>
              </a:spcBef>
              <a:defRPr sz="900">
                <a:solidFill>
                  <a:srgbClr val="0F172A"/>
                </a:solidFill>
                <a:latin typeface="Segoe UI"/>
              </a:defRPr>
            </a:pPr>
            <a:r>
              <a:t>Tra cứu Profile cước: Gói Data kích hoạt trên OCS, cờ khóa NAM, hạn mức AMBR QoS, SIM 4G HSS.</a:t>
            </a:r>
          </a:p>
        </p:txBody>
      </p:sp>
      <p:sp>
        <p:nvSpPr>
          <p:cNvPr id="8" name="Rounded Rectangle 7"/>
          <p:cNvSpPr/>
          <p:nvPr/>
        </p:nvSpPr>
        <p:spPr>
          <a:xfrm>
            <a:off x="7955280" y="1280160"/>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417320"/>
            <a:ext cx="3200400" cy="2011680"/>
          </a:xfrm>
          <a:prstGeom prst="rect">
            <a:avLst/>
          </a:prstGeom>
          <a:noFill/>
        </p:spPr>
        <p:txBody>
          <a:bodyPr wrap="square">
            <a:spAutoFit/>
          </a:bodyPr>
          <a:lstStyle/>
          <a:p>
            <a:pPr>
              <a:defRPr b="1" sz="1100">
                <a:solidFill>
                  <a:srgbClr val="0A192F"/>
                </a:solidFill>
                <a:latin typeface="Segoe UI"/>
              </a:defRPr>
            </a:pPr>
            <a:r>
              <a:t>3. BTools Chrome CDP</a:t>
            </a:r>
          </a:p>
          <a:p>
            <a:pPr>
              <a:spcBef>
                <a:spcPts val="200"/>
              </a:spcBef>
              <a:defRPr b="1" sz="950">
                <a:solidFill>
                  <a:srgbClr val="0284C7"/>
                </a:solidFill>
                <a:latin typeface="Segoe UI"/>
              </a:defRPr>
            </a:pPr>
            <a:r>
              <a:t>10.159.21.241:9222</a:t>
            </a:r>
          </a:p>
          <a:p>
            <a:pPr>
              <a:spcBef>
                <a:spcPts val="600"/>
              </a:spcBef>
              <a:defRPr sz="900">
                <a:solidFill>
                  <a:srgbClr val="0F172A"/>
                </a:solidFill>
                <a:latin typeface="Segoe UI"/>
              </a:defRPr>
            </a:pPr>
            <a:r>
              <a:t>Truy vấn CDR 4G/5G/3G gần nhất: Thời gian phiên, Bytes tải, RAT Type, Service ID, Cause ngắt phiên.</a:t>
            </a:r>
          </a:p>
        </p:txBody>
      </p:sp>
      <p:sp>
        <p:nvSpPr>
          <p:cNvPr id="10" name="Rounded Rectangle 9"/>
          <p:cNvSpPr/>
          <p:nvPr/>
        </p:nvSpPr>
        <p:spPr>
          <a:xfrm>
            <a:off x="731520" y="3749039"/>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3886199"/>
            <a:ext cx="3200400" cy="2011680"/>
          </a:xfrm>
          <a:prstGeom prst="rect">
            <a:avLst/>
          </a:prstGeom>
          <a:noFill/>
        </p:spPr>
        <p:txBody>
          <a:bodyPr wrap="square">
            <a:spAutoFit/>
          </a:bodyPr>
          <a:lstStyle/>
          <a:p>
            <a:pPr>
              <a:defRPr b="1" sz="1100">
                <a:solidFill>
                  <a:srgbClr val="0A192F"/>
                </a:solidFill>
                <a:latin typeface="Segoe UI"/>
              </a:defRPr>
            </a:pPr>
            <a:r>
              <a:t>4. CEM Vô tuyến</a:t>
            </a:r>
          </a:p>
          <a:p>
            <a:pPr>
              <a:spcBef>
                <a:spcPts val="200"/>
              </a:spcBef>
              <a:defRPr b="1" sz="950">
                <a:solidFill>
                  <a:srgbClr val="0284C7"/>
                </a:solidFill>
                <a:latin typeface="Segoe UI"/>
              </a:defRPr>
            </a:pPr>
            <a:r>
              <a:t>cem.vnptmedia.vn</a:t>
            </a:r>
          </a:p>
          <a:p>
            <a:pPr>
              <a:spcBef>
                <a:spcPts val="600"/>
              </a:spcBef>
              <a:defRPr sz="900">
                <a:solidFill>
                  <a:srgbClr val="0F172A"/>
                </a:solidFill>
                <a:latin typeface="Segoe UI"/>
              </a:defRPr>
            </a:pPr>
            <a:r>
              <a:t>Đo kiểm cường độ sóng RSRP (dBm), SINR (dB), mã trạm BTS/eNodeB phục vụ, cảnh báo mất sóng.</a:t>
            </a:r>
          </a:p>
        </p:txBody>
      </p:sp>
      <p:sp>
        <p:nvSpPr>
          <p:cNvPr id="12" name="Rounded Rectangle 11"/>
          <p:cNvSpPr/>
          <p:nvPr/>
        </p:nvSpPr>
        <p:spPr>
          <a:xfrm>
            <a:off x="4343400" y="3749039"/>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60" y="3886199"/>
            <a:ext cx="3200400" cy="2011680"/>
          </a:xfrm>
          <a:prstGeom prst="rect">
            <a:avLst/>
          </a:prstGeom>
          <a:noFill/>
        </p:spPr>
        <p:txBody>
          <a:bodyPr wrap="square">
            <a:spAutoFit/>
          </a:bodyPr>
          <a:lstStyle/>
          <a:p>
            <a:pPr>
              <a:defRPr b="1" sz="1100">
                <a:solidFill>
                  <a:srgbClr val="0A192F"/>
                </a:solidFill>
                <a:latin typeface="Segoe UI"/>
              </a:defRPr>
            </a:pPr>
            <a:r>
              <a:t>5. Google Maps Geocoding</a:t>
            </a:r>
          </a:p>
          <a:p>
            <a:pPr>
              <a:spcBef>
                <a:spcPts val="200"/>
              </a:spcBef>
              <a:defRPr b="1" sz="950">
                <a:solidFill>
                  <a:srgbClr val="0284C7"/>
                </a:solidFill>
                <a:latin typeface="Segoe UI"/>
              </a:defRPr>
            </a:pPr>
            <a:r>
              <a:t>10.155.59.158:1708</a:t>
            </a:r>
          </a:p>
          <a:p>
            <a:pPr>
              <a:spcBef>
                <a:spcPts val="600"/>
              </a:spcBef>
              <a:defRPr sz="900">
                <a:solidFill>
                  <a:srgbClr val="0F172A"/>
                </a:solidFill>
                <a:latin typeface="Segoe UI"/>
              </a:defRPr>
            </a:pPr>
            <a:r>
              <a:t>Chuyển đổi tọa độ GPS từ CEM thành địa danh chuẩn 2 cấp [Phường/Xã], [Tỉnh/TP] theo 34 Tỉnh mới.</a:t>
            </a:r>
          </a:p>
        </p:txBody>
      </p:sp>
      <p:sp>
        <p:nvSpPr>
          <p:cNvPr id="14" name="Rounded Rectangle 13"/>
          <p:cNvSpPr/>
          <p:nvPr/>
        </p:nvSpPr>
        <p:spPr>
          <a:xfrm>
            <a:off x="7955280" y="3749039"/>
            <a:ext cx="3474720" cy="22860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886199"/>
            <a:ext cx="3200400" cy="2011680"/>
          </a:xfrm>
          <a:prstGeom prst="rect">
            <a:avLst/>
          </a:prstGeom>
          <a:noFill/>
        </p:spPr>
        <p:txBody>
          <a:bodyPr wrap="square">
            <a:spAutoFit/>
          </a:bodyPr>
          <a:lstStyle/>
          <a:p>
            <a:pPr>
              <a:defRPr b="1" sz="1100">
                <a:solidFill>
                  <a:srgbClr val="0A192F"/>
                </a:solidFill>
                <a:latin typeface="Segoe UI"/>
              </a:defRPr>
            </a:pPr>
            <a:r>
              <a:t>6. SMSC Gateway CDR</a:t>
            </a:r>
          </a:p>
          <a:p>
            <a:pPr>
              <a:spcBef>
                <a:spcPts val="200"/>
              </a:spcBef>
              <a:defRPr b="1" sz="950">
                <a:solidFill>
                  <a:srgbClr val="0284C7"/>
                </a:solidFill>
                <a:latin typeface="Segoe UI"/>
              </a:defRPr>
            </a:pPr>
            <a:r>
              <a:t>Cổng SMSC Gateway</a:t>
            </a:r>
          </a:p>
          <a:p>
            <a:pPr>
              <a:spcBef>
                <a:spcPts val="600"/>
              </a:spcBef>
              <a:defRPr sz="900">
                <a:solidFill>
                  <a:srgbClr val="0F172A"/>
                </a:solidFill>
                <a:latin typeface="Segoe UI"/>
              </a:defRPr>
            </a:pPr>
            <a:r>
              <a:t>Tra cứu tin nhắn OTP Brandname thời gian thực, mã trạng thái phân phát Delivery Status (0, 1, 2, 6, 21, 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 THƯ VIỆN KỸ THUẬT &amp; 7 KỊCH BẢN CHẨN ĐOÁN (60 PHÚT)</a:t>
            </a:r>
          </a:p>
          <a:p>
            <a:pPr>
              <a:spcBef>
                <a:spcPts val="300"/>
              </a:spcBef>
              <a:defRPr sz="1800" b="1">
                <a:solidFill>
                  <a:srgbClr val="0A192F"/>
                </a:solidFill>
                <a:latin typeface="Segoe UI"/>
              </a:defRPr>
            </a:pPr>
            <a:r>
              <a:t>PHẦN II: THƯ VIỆN GÓI CƯỚC &amp; MA TRẬN BÓP BĂNG THÔNG (SERVICEID.JSON)</a:t>
            </a:r>
          </a:p>
        </p:txBody>
      </p:sp>
      <p:sp>
        <p:nvSpPr>
          <p:cNvPr id="4" name="Rounded Rectangle 3"/>
          <p:cNvSpPr/>
          <p:nvPr/>
        </p:nvSpPr>
        <p:spPr>
          <a:xfrm>
            <a:off x="731520" y="1280160"/>
            <a:ext cx="548640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5120640" cy="4663440"/>
          </a:xfrm>
          <a:prstGeom prst="rect">
            <a:avLst/>
          </a:prstGeom>
          <a:noFill/>
        </p:spPr>
        <p:txBody>
          <a:bodyPr wrap="square">
            <a:spAutoFit/>
          </a:bodyPr>
          <a:lstStyle/>
          <a:p>
            <a:pPr>
              <a:defRPr b="1" sz="1200">
                <a:solidFill>
                  <a:srgbClr val="DC2626"/>
                </a:solidFill>
                <a:latin typeface="Segoe UI"/>
              </a:defRPr>
            </a:pPr>
            <a:r>
              <a:t>MA TRẬN HẠ TỐC ĐỘ BÓP BĂNG THÔNG</a:t>
            </a:r>
          </a:p>
          <a:p>
            <a:pPr>
              <a:spcBef>
                <a:spcPts val="400"/>
              </a:spcBef>
              <a:defRPr sz="900">
                <a:solidFill>
                  <a:srgbClr val="0F172A"/>
                </a:solidFill>
                <a:latin typeface="Segoe UI"/>
              </a:defRPr>
            </a:pPr>
            <a:r>
              <a:t>• Mã 10002 (64/64 Kbps): Rất chậm, chỉ gửi tin text Zalo, web quay tít</a:t>
            </a:r>
          </a:p>
          <a:p>
            <a:pPr>
              <a:spcBef>
                <a:spcPts val="400"/>
              </a:spcBef>
              <a:defRPr sz="900">
                <a:solidFill>
                  <a:srgbClr val="0F172A"/>
                </a:solidFill>
                <a:latin typeface="Segoe UI"/>
              </a:defRPr>
            </a:pPr>
            <a:r>
              <a:t>• Mã 10003 (128/64 Kbps): Chậm, đọc báo text 5-10s, không xem được video</a:t>
            </a:r>
          </a:p>
          <a:p>
            <a:pPr>
              <a:spcBef>
                <a:spcPts val="400"/>
              </a:spcBef>
              <a:defRPr sz="900">
                <a:solidFill>
                  <a:srgbClr val="0F172A"/>
                </a:solidFill>
                <a:latin typeface="Segoe UI"/>
              </a:defRPr>
            </a:pPr>
            <a:r>
              <a:t>• Mã 10005 (512/256 Kbps): Trung bình thấp, video 240p/360p giật nhẹ</a:t>
            </a:r>
          </a:p>
          <a:p>
            <a:pPr>
              <a:spcBef>
                <a:spcPts val="400"/>
              </a:spcBef>
              <a:defRPr sz="900">
                <a:solidFill>
                  <a:srgbClr val="0F172A"/>
                </a:solidFill>
                <a:latin typeface="Segoe UI"/>
              </a:defRPr>
            </a:pPr>
            <a:r>
              <a:t>• Mã 10010 (1 Mbps): Xem video 480p mượt, lướt FB/TikTok chậm nhẹ</a:t>
            </a:r>
          </a:p>
          <a:p>
            <a:pPr>
              <a:spcBef>
                <a:spcPts val="400"/>
              </a:spcBef>
              <a:defRPr sz="900">
                <a:solidFill>
                  <a:srgbClr val="0F172A"/>
                </a:solidFill>
                <a:latin typeface="Segoe UI"/>
              </a:defRPr>
            </a:pPr>
            <a:r>
              <a:t>• Mã 10011 (2 Mbps): Video 720p HD, web bình thường, video call ổn</a:t>
            </a:r>
          </a:p>
          <a:p>
            <a:pPr>
              <a:spcBef>
                <a:spcPts val="400"/>
              </a:spcBef>
              <a:defRPr sz="900">
                <a:solidFill>
                  <a:srgbClr val="0F172A"/>
                </a:solidFill>
                <a:latin typeface="Segoe UI"/>
              </a:defRPr>
            </a:pPr>
            <a:r>
              <a:t>• Mã 10012 (3 Mbps): Video 1080p Full HD mượt mà, trải nghiệm tốt</a:t>
            </a:r>
          </a:p>
          <a:p>
            <a:pPr>
              <a:spcBef>
                <a:spcPts val="400"/>
              </a:spcBef>
              <a:defRPr sz="900">
                <a:solidFill>
                  <a:srgbClr val="0F172A"/>
                </a:solidFill>
                <a:latin typeface="Segoe UI"/>
              </a:defRPr>
            </a:pPr>
            <a:r>
              <a:t>• Mã 10014 (128/128 Kbps): Hạ băng thông hai chiều mức tối thiểu</a:t>
            </a:r>
          </a:p>
        </p:txBody>
      </p:sp>
      <p:sp>
        <p:nvSpPr>
          <p:cNvPr id="6" name="Rounded Rectangle 5"/>
          <p:cNvSpPr/>
          <p:nvPr/>
        </p:nvSpPr>
        <p:spPr>
          <a:xfrm>
            <a:off x="6492240" y="1280160"/>
            <a:ext cx="493776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75120" y="1417320"/>
            <a:ext cx="4572000" cy="4663440"/>
          </a:xfrm>
          <a:prstGeom prst="rect">
            <a:avLst/>
          </a:prstGeom>
          <a:noFill/>
        </p:spPr>
        <p:txBody>
          <a:bodyPr wrap="square">
            <a:spAutoFit/>
          </a:bodyPr>
          <a:lstStyle/>
          <a:p>
            <a:pPr>
              <a:defRPr b="1" sz="1200">
                <a:solidFill>
                  <a:srgbClr val="0A192F"/>
                </a:solidFill>
                <a:latin typeface="Segoe UI"/>
              </a:defRPr>
            </a:pPr>
            <a:r>
              <a:t>GÓI CƯỚC CHỦ ĐẠO &amp; OTT BYPASS</a:t>
            </a:r>
          </a:p>
          <a:p>
            <a:pPr>
              <a:spcBef>
                <a:spcPts val="800"/>
              </a:spcBef>
              <a:defRPr sz="1000">
                <a:solidFill>
                  <a:srgbClr val="0F172A"/>
                </a:solidFill>
                <a:latin typeface="Segoe UI"/>
              </a:defRPr>
            </a:pPr>
            <a:r>
              <a:t>• MÃ 3000 / 0000003000: Dải gói OCS chủ đạo:</a:t>
            </a:r>
            <a:br/>
            <a:r>
              <a:t>  VD120N, YOLO90, BIG60, BIG70, D159SC, SPE7, DT120, VD89, U1500, D60G, MAX100...</a:t>
            </a:r>
            <a:br/>
            <a:br/>
            <a:r>
              <a:t>• MÃ 3001: PAYGO, M0 (Cước nền - Cảnh báo trừ tiền!)</a:t>
            </a:r>
            <a:br/>
            <a:br/>
            <a:r>
              <a:t>• GÓI OTT BYPASS MIỄN PHÍ DATA:</a:t>
            </a:r>
            <a:br/>
            <a:r>
              <a:t>  - Zalo: 2807 | ZingMP3: 2808</a:t>
            </a:r>
            <a:br/>
            <a:r>
              <a:t>  - Meta Facebook: 2910 | Instagram: 2913</a:t>
            </a:r>
            <a:br/>
            <a:r>
              <a:t>  - YouTube: 2902, 2920 | TikTok: 2917</a:t>
            </a:r>
            <a:br/>
            <a:r>
              <a:t>  - Liên Quân Mobile: 2916 | FreeFire: 2919</a:t>
            </a:r>
            <a:br/>
            <a:r>
              <a:t>  - Ví MoMo: 2932 | Shopee: 2925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 THƯ VIỆN KỸ THUẬT &amp; 7 KỊCH BẢN CHẨN ĐOÁN (60 PHÚT)</a:t>
            </a:r>
          </a:p>
          <a:p>
            <a:pPr>
              <a:spcBef>
                <a:spcPts val="300"/>
              </a:spcBef>
              <a:defRPr sz="1800" b="1">
                <a:solidFill>
                  <a:srgbClr val="0A192F"/>
                </a:solidFill>
                <a:latin typeface="Segoe UI"/>
              </a:defRPr>
            </a:pPr>
            <a:r>
              <a:t>PHẦN II: QUY TẮC SỐNG CÒN VỀ GÓI CƯỚC OCS &amp; HỒ SƠ ODA_BIG_OCS</a:t>
            </a:r>
          </a:p>
        </p:txBody>
      </p:sp>
      <p:sp>
        <p:nvSpPr>
          <p:cNvPr id="4" name="Rounded Rectangle 3"/>
          <p:cNvSpPr/>
          <p:nvPr/>
        </p:nvSpPr>
        <p:spPr>
          <a:xfrm>
            <a:off x="731520" y="1280160"/>
            <a:ext cx="10698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10149840" cy="4572000"/>
          </a:xfrm>
          <a:prstGeom prst="rect">
            <a:avLst/>
          </a:prstGeom>
          <a:noFill/>
        </p:spPr>
        <p:txBody>
          <a:bodyPr wrap="square">
            <a:spAutoFit/>
          </a:bodyPr>
          <a:lstStyle/>
          <a:p>
            <a:pPr>
              <a:defRPr b="1" sz="1400">
                <a:solidFill>
                  <a:srgbClr val="DC2626"/>
                </a:solidFill>
                <a:latin typeface="Segoe UI"/>
              </a:defRPr>
            </a:pPr>
            <a:r>
              <a:t>QUY CHUẨN XỬ LÝ LỖI KHAI BÁO GÓI CƯỚC D159SC TRÊN HỆ THỐNG CORE OCS</a:t>
            </a:r>
          </a:p>
          <a:p>
            <a:pPr>
              <a:spcBef>
                <a:spcPts val="800"/>
              </a:spcBef>
              <a:defRPr b="1" sz="1100">
                <a:solidFill>
                  <a:srgbClr val="0A192F"/>
                </a:solidFill>
                <a:latin typeface="Segoe UI"/>
              </a:defRPr>
            </a:pPr>
            <a:r>
              <a:t>1. ĐẶC ĐIỂM GÓI OCS:</a:t>
            </a:r>
          </a:p>
          <a:p>
            <a:pPr>
              <a:spcBef>
                <a:spcPts val="200"/>
              </a:spcBef>
              <a:defRPr sz="1050">
                <a:solidFill>
                  <a:srgbClr val="0F172A"/>
                </a:solidFill>
                <a:latin typeface="Segoe UI"/>
              </a:defRPr>
            </a:pPr>
            <a:r>
              <a:t>Các gói Data OCS phổ thông như D159SC, VD120N, YOLO90 bắt buộc phải có profile ODA_BIG_OCS trên Core OCS để hệ thống trừ dung lượng data.</a:t>
            </a:r>
          </a:p>
          <a:p>
            <a:pPr>
              <a:spcBef>
                <a:spcPts val="800"/>
              </a:spcBef>
              <a:defRPr b="1" sz="1100">
                <a:solidFill>
                  <a:srgbClr val="0A192F"/>
                </a:solidFill>
                <a:latin typeface="Segoe UI"/>
              </a:defRPr>
            </a:pPr>
            <a:r>
              <a:t>2. HIỆN TƯỢNG RỚT PROFILE:</a:t>
            </a:r>
          </a:p>
          <a:p>
            <a:pPr>
              <a:spcBef>
                <a:spcPts val="200"/>
              </a:spcBef>
              <a:defRPr sz="1050">
                <a:solidFill>
                  <a:srgbClr val="0F172A"/>
                </a:solidFill>
                <a:latin typeface="Segoe UI"/>
              </a:defRPr>
            </a:pPr>
            <a:r>
              <a:t>Khách hàng đăng ký gói D159SC thành công trên CCBS nhưng kiểm tra Core SAPC CHỈ CÓ gói ODA_MYTV mà THIẾU profile ODA_BIG_OCS. Khách hàng bật 4G sẽ không vào được mạng dù vẫn còn hạn dùng!</a:t>
            </a:r>
          </a:p>
          <a:p>
            <a:pPr>
              <a:spcBef>
                <a:spcPts val="800"/>
              </a:spcBef>
              <a:defRPr b="1" sz="1100">
                <a:solidFill>
                  <a:srgbClr val="0A192F"/>
                </a:solidFill>
                <a:latin typeface="Segoe UI"/>
              </a:defRPr>
            </a:pPr>
            <a:r>
              <a:t>3. HƯỚNG XỬ LÝ BẮT BUỘC:</a:t>
            </a:r>
          </a:p>
          <a:p>
            <a:pPr>
              <a:spcBef>
                <a:spcPts val="200"/>
              </a:spcBef>
              <a:defRPr sz="1050">
                <a:solidFill>
                  <a:srgbClr val="0F172A"/>
                </a:solidFill>
                <a:latin typeface="Segoe UI"/>
              </a:defRPr>
            </a:pPr>
            <a:r>
              <a:t>Hệ thống xác định đây là LỖI KHAI BÁO CỦA HỆ THỐNG. KTV KHÔNG ĐƯỢC đóng phiếu báo khách hết dung lượng, mà PHẢI chuyển hướng xử lý:</a:t>
            </a:r>
            <a:br/>
            <a:r>
              <a:t>👉 'Chuyển IT/CCBS kiểm tra khai báo gói cước {tên gói cước} cho Khách hàng'</a:t>
            </a:r>
          </a:p>
          <a:p>
            <a:pPr>
              <a:spcBef>
                <a:spcPts val="800"/>
              </a:spcBef>
              <a:defRPr b="1" sz="1100">
                <a:solidFill>
                  <a:srgbClr val="0A192F"/>
                </a:solidFill>
                <a:latin typeface="Segoe UI"/>
              </a:defRPr>
            </a:pPr>
            <a:r>
              <a:t>4. CẤM TUYỆT ĐỐI:</a:t>
            </a:r>
          </a:p>
          <a:p>
            <a:pPr>
              <a:spcBef>
                <a:spcPts val="200"/>
              </a:spcBef>
              <a:defRPr sz="1050">
                <a:solidFill>
                  <a:srgbClr val="0F172A"/>
                </a:solidFill>
                <a:latin typeface="Segoe UI"/>
              </a:defRPr>
            </a:pPr>
            <a:r>
              <a:t>Không được tư vấn khách nạp tiền mua thêm gói mới khi khách hàng đã đăng ký gói OCS hợp lệ.</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 THƯ VIỆN KỸ THUẬT &amp; 7 KỊCH BẢN CHẨN ĐOÁN (60 PHÚT)</a:t>
            </a:r>
          </a:p>
          <a:p>
            <a:pPr>
              <a:spcBef>
                <a:spcPts val="300"/>
              </a:spcBef>
              <a:defRPr sz="1800" b="1">
                <a:solidFill>
                  <a:srgbClr val="0A192F"/>
                </a:solidFill>
                <a:latin typeface="Segoe UI"/>
              </a:defRPr>
            </a:pPr>
            <a:r>
              <a:t>PHẦN II: CÔNG NGHỆ SÓNG RAT TYPE (0, 1, 2, 6, 7) &amp; THUẬT TOÁN RỚT SÓNG</a:t>
            </a:r>
          </a:p>
        </p:txBody>
      </p:sp>
      <p:sp>
        <p:nvSpPr>
          <p:cNvPr id="4" name="Rounded Rectangle 3"/>
          <p:cNvSpPr/>
          <p:nvPr/>
        </p:nvSpPr>
        <p:spPr>
          <a:xfrm>
            <a:off x="731520" y="1280160"/>
            <a:ext cx="20574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17320"/>
            <a:ext cx="1783080" cy="2834640"/>
          </a:xfrm>
          <a:prstGeom prst="rect">
            <a:avLst/>
          </a:prstGeom>
          <a:noFill/>
        </p:spPr>
        <p:txBody>
          <a:bodyPr wrap="square">
            <a:spAutoFit/>
          </a:bodyPr>
          <a:lstStyle/>
          <a:p>
            <a:pPr>
              <a:defRPr b="1" sz="1400">
                <a:solidFill>
                  <a:srgbClr val="0052A5"/>
                </a:solidFill>
                <a:latin typeface="Segoe UI"/>
              </a:defRPr>
            </a:pPr>
            <a:r>
              <a:t>RAT 0</a:t>
            </a:r>
          </a:p>
          <a:p>
            <a:pPr>
              <a:spcBef>
                <a:spcPts val="200"/>
              </a:spcBef>
              <a:defRPr b="1" sz="1000">
                <a:solidFill>
                  <a:srgbClr val="0A192F"/>
                </a:solidFill>
                <a:latin typeface="Segoe UI"/>
              </a:defRPr>
            </a:pPr>
            <a:r>
              <a:t>BÁO HIỆU MẠNG</a:t>
            </a:r>
          </a:p>
          <a:p>
            <a:pPr>
              <a:spcBef>
                <a:spcPts val="600"/>
              </a:spcBef>
              <a:defRPr sz="900">
                <a:solidFill>
                  <a:srgbClr val="0F172A"/>
                </a:solidFill>
                <a:latin typeface="Segoe UI"/>
              </a:defRPr>
            </a:pPr>
            <a:r>
              <a:t>Tốc độ: None</a:t>
            </a:r>
            <a:br/>
            <a:br/>
            <a:r>
              <a:t>Các bản tin điều khiển thiết lập phiên. Không phát sinh lưu lượng người dùng tải về.</a:t>
            </a:r>
          </a:p>
        </p:txBody>
      </p:sp>
      <p:sp>
        <p:nvSpPr>
          <p:cNvPr id="6" name="Rounded Rectangle 5"/>
          <p:cNvSpPr/>
          <p:nvPr/>
        </p:nvSpPr>
        <p:spPr>
          <a:xfrm>
            <a:off x="2926080" y="1280160"/>
            <a:ext cx="20574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063240" y="1417320"/>
            <a:ext cx="1783080" cy="2834640"/>
          </a:xfrm>
          <a:prstGeom prst="rect">
            <a:avLst/>
          </a:prstGeom>
          <a:noFill/>
        </p:spPr>
        <p:txBody>
          <a:bodyPr wrap="square">
            <a:spAutoFit/>
          </a:bodyPr>
          <a:lstStyle/>
          <a:p>
            <a:pPr>
              <a:defRPr b="1" sz="1400">
                <a:solidFill>
                  <a:srgbClr val="0052A5"/>
                </a:solidFill>
                <a:latin typeface="Segoe UI"/>
              </a:defRPr>
            </a:pPr>
            <a:r>
              <a:t>RAT 1</a:t>
            </a:r>
          </a:p>
          <a:p>
            <a:pPr>
              <a:spcBef>
                <a:spcPts val="200"/>
              </a:spcBef>
              <a:defRPr b="1" sz="1000">
                <a:solidFill>
                  <a:srgbClr val="0A192F"/>
                </a:solidFill>
                <a:latin typeface="Segoe UI"/>
              </a:defRPr>
            </a:pPr>
            <a:r>
              <a:t>SÓNG 3G (UTRAN)</a:t>
            </a:r>
          </a:p>
          <a:p>
            <a:pPr>
              <a:spcBef>
                <a:spcPts val="600"/>
              </a:spcBef>
              <a:defRPr sz="900">
                <a:solidFill>
                  <a:srgbClr val="0F172A"/>
                </a:solidFill>
                <a:latin typeface="Segoe UI"/>
              </a:defRPr>
            </a:pPr>
            <a:r>
              <a:t>Tốc độ: 1 - 10 Mbps</a:t>
            </a:r>
            <a:br/>
            <a:br/>
            <a:r>
              <a:t>Công nghệ 3G cũ. Phát sinh nhiều là dấu hiệu khu vực sóng 4G rất yếu.</a:t>
            </a:r>
          </a:p>
        </p:txBody>
      </p:sp>
      <p:sp>
        <p:nvSpPr>
          <p:cNvPr id="8" name="Rounded Rectangle 7"/>
          <p:cNvSpPr/>
          <p:nvPr/>
        </p:nvSpPr>
        <p:spPr>
          <a:xfrm>
            <a:off x="5120640" y="1280160"/>
            <a:ext cx="20574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257800" y="1417320"/>
            <a:ext cx="1783080" cy="2834640"/>
          </a:xfrm>
          <a:prstGeom prst="rect">
            <a:avLst/>
          </a:prstGeom>
          <a:noFill/>
        </p:spPr>
        <p:txBody>
          <a:bodyPr wrap="square">
            <a:spAutoFit/>
          </a:bodyPr>
          <a:lstStyle/>
          <a:p>
            <a:pPr>
              <a:defRPr b="1" sz="1400">
                <a:solidFill>
                  <a:srgbClr val="0052A5"/>
                </a:solidFill>
                <a:latin typeface="Segoe UI"/>
              </a:defRPr>
            </a:pPr>
            <a:r>
              <a:t>RAT 2</a:t>
            </a:r>
          </a:p>
          <a:p>
            <a:pPr>
              <a:spcBef>
                <a:spcPts val="200"/>
              </a:spcBef>
              <a:defRPr b="1" sz="1000">
                <a:solidFill>
                  <a:srgbClr val="0A192F"/>
                </a:solidFill>
                <a:latin typeface="Segoe UI"/>
              </a:defRPr>
            </a:pPr>
            <a:r>
              <a:t>SÓNG 2G (GERAN)</a:t>
            </a:r>
          </a:p>
          <a:p>
            <a:pPr>
              <a:spcBef>
                <a:spcPts val="600"/>
              </a:spcBef>
              <a:defRPr sz="900">
                <a:solidFill>
                  <a:srgbClr val="0F172A"/>
                </a:solidFill>
                <a:latin typeface="Segoe UI"/>
              </a:defRPr>
            </a:pPr>
            <a:r>
              <a:t>Tốc độ: 40 - 200 Kbps</a:t>
            </a:r>
            <a:br/>
            <a:br/>
            <a:r>
              <a:t>Băng thông cực thấp, tải web lỗi timeout. Biểu hiện mất hoàn toàn sóng 4G.</a:t>
            </a:r>
          </a:p>
        </p:txBody>
      </p:sp>
      <p:sp>
        <p:nvSpPr>
          <p:cNvPr id="10" name="Rounded Rectangle 9"/>
          <p:cNvSpPr/>
          <p:nvPr/>
        </p:nvSpPr>
        <p:spPr>
          <a:xfrm>
            <a:off x="7315199" y="1280160"/>
            <a:ext cx="20574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52359" y="1417320"/>
            <a:ext cx="1783080" cy="2834640"/>
          </a:xfrm>
          <a:prstGeom prst="rect">
            <a:avLst/>
          </a:prstGeom>
          <a:noFill/>
        </p:spPr>
        <p:txBody>
          <a:bodyPr wrap="square">
            <a:spAutoFit/>
          </a:bodyPr>
          <a:lstStyle/>
          <a:p>
            <a:pPr>
              <a:defRPr b="1" sz="1400">
                <a:solidFill>
                  <a:srgbClr val="0052A5"/>
                </a:solidFill>
                <a:latin typeface="Segoe UI"/>
              </a:defRPr>
            </a:pPr>
            <a:r>
              <a:t>RAT 6</a:t>
            </a:r>
          </a:p>
          <a:p>
            <a:pPr>
              <a:spcBef>
                <a:spcPts val="200"/>
              </a:spcBef>
              <a:defRPr b="1" sz="1000">
                <a:solidFill>
                  <a:srgbClr val="0A192F"/>
                </a:solidFill>
                <a:latin typeface="Segoe UI"/>
              </a:defRPr>
            </a:pPr>
            <a:r>
              <a:t>SÓNG 4G (E-UTRAN)</a:t>
            </a:r>
          </a:p>
          <a:p>
            <a:pPr>
              <a:spcBef>
                <a:spcPts val="600"/>
              </a:spcBef>
              <a:defRPr sz="900">
                <a:solidFill>
                  <a:srgbClr val="0F172A"/>
                </a:solidFill>
                <a:latin typeface="Segoe UI"/>
              </a:defRPr>
            </a:pPr>
            <a:r>
              <a:t>Tốc độ: 30 - 150 Mbps</a:t>
            </a:r>
            <a:br/>
            <a:br/>
            <a:r>
              <a:t>Chuẩn sóng data chính. Thuê bao đạt chuẩn phải có &gt; 80% phiên trên RAT 6.</a:t>
            </a:r>
          </a:p>
        </p:txBody>
      </p:sp>
      <p:sp>
        <p:nvSpPr>
          <p:cNvPr id="12" name="Rounded Rectangle 11"/>
          <p:cNvSpPr/>
          <p:nvPr/>
        </p:nvSpPr>
        <p:spPr>
          <a:xfrm>
            <a:off x="9509760" y="1280160"/>
            <a:ext cx="2057400" cy="31089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46920" y="1417320"/>
            <a:ext cx="1783080" cy="2834640"/>
          </a:xfrm>
          <a:prstGeom prst="rect">
            <a:avLst/>
          </a:prstGeom>
          <a:noFill/>
        </p:spPr>
        <p:txBody>
          <a:bodyPr wrap="square">
            <a:spAutoFit/>
          </a:bodyPr>
          <a:lstStyle/>
          <a:p>
            <a:pPr>
              <a:defRPr b="1" sz="1400">
                <a:solidFill>
                  <a:srgbClr val="0052A5"/>
                </a:solidFill>
                <a:latin typeface="Segoe UI"/>
              </a:defRPr>
            </a:pPr>
            <a:r>
              <a:t>RAT 7</a:t>
            </a:r>
          </a:p>
          <a:p>
            <a:pPr>
              <a:spcBef>
                <a:spcPts val="200"/>
              </a:spcBef>
              <a:defRPr b="1" sz="1000">
                <a:solidFill>
                  <a:srgbClr val="0A192F"/>
                </a:solidFill>
                <a:latin typeface="Segoe UI"/>
              </a:defRPr>
            </a:pPr>
            <a:r>
              <a:t>SÓNG 5G (NR)</a:t>
            </a:r>
          </a:p>
          <a:p>
            <a:pPr>
              <a:spcBef>
                <a:spcPts val="600"/>
              </a:spcBef>
              <a:defRPr sz="900">
                <a:solidFill>
                  <a:srgbClr val="0F172A"/>
                </a:solidFill>
                <a:latin typeface="Segoe UI"/>
              </a:defRPr>
            </a:pPr>
            <a:r>
              <a:t>Tốc độ: 300 - 1000 Mbps</a:t>
            </a:r>
            <a:br/>
            <a:br/>
            <a:r>
              <a:t>Công nghệ 5G thế hệ mới tốc độ siêu cao của mạng VinaPhone.</a:t>
            </a:r>
          </a:p>
        </p:txBody>
      </p:sp>
      <p:sp>
        <p:nvSpPr>
          <p:cNvPr id="14" name="Rounded Rectangle 13"/>
          <p:cNvSpPr/>
          <p:nvPr/>
        </p:nvSpPr>
        <p:spPr>
          <a:xfrm>
            <a:off x="731520" y="4572000"/>
            <a:ext cx="10698480"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709160"/>
            <a:ext cx="10149840" cy="1371600"/>
          </a:xfrm>
          <a:prstGeom prst="rect">
            <a:avLst/>
          </a:prstGeom>
          <a:noFill/>
        </p:spPr>
        <p:txBody>
          <a:bodyPr wrap="square">
            <a:spAutoFit/>
          </a:bodyPr>
          <a:lstStyle/>
          <a:p>
            <a:pPr>
              <a:defRPr b="1" sz="1100">
                <a:solidFill>
                  <a:srgbClr val="0A192F"/>
                </a:solidFill>
                <a:latin typeface="Segoe UI"/>
              </a:defRPr>
            </a:pPr>
            <a:r>
              <a:t>THUẬT TOÁN PHÂN TÍCH TỶ LỆ RỚT SÓNG (RAT RATIO ANALYSIS)</a:t>
            </a:r>
          </a:p>
          <a:p>
            <a:pPr>
              <a:spcBef>
                <a:spcPts val="400"/>
              </a:spcBef>
              <a:defRPr sz="950">
                <a:solidFill>
                  <a:srgbClr val="0F172A"/>
                </a:solidFill>
                <a:latin typeface="Segoe UI"/>
              </a:defRPr>
            </a:pPr>
            <a:r>
              <a:t>• Công thức tính: Tỷ lệ rớt 2G/3G = (Số phiên có RAT=1 + RAT=2) / (Tổng số phiên phát sinh) * 100%</a:t>
            </a:r>
            <a:br/>
            <a:r>
              <a:t>• Ngưỡng kích hoạt kịch bản: Nếu Tỷ lệ rớt 2G/3G &gt; 50% ➔ Kích hoạt kịch bản 'Bắt sóng 4G kém' (Chuyển VTT tối ưu vùng phủ trạm).</a:t>
            </a:r>
            <a:br/>
            <a:r>
              <a:t>• Nếu Tỷ lệ 4G = 0% nhưng HSS đã mở 4G ➔ Lỗi thiết bị khách hàng chưa bật 4G hoặc hỏng thẻ SIM.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 THƯ VIỆN KỸ THUẬT &amp; 7 KỊCH BẢN CHẨN ĐOÁN (60 PHÚT)</a:t>
            </a:r>
          </a:p>
          <a:p>
            <a:pPr>
              <a:spcBef>
                <a:spcPts val="300"/>
              </a:spcBef>
              <a:defRPr sz="1800" b="1">
                <a:solidFill>
                  <a:srgbClr val="0A192F"/>
                </a:solidFill>
                <a:latin typeface="Segoe UI"/>
              </a:defRPr>
            </a:pPr>
            <a:r>
              <a:t>PHẦN II: 7 KỊCH BẢN CHẨN ĐOÁN KỸ THUẬT (KỊCH BẢN 1 - 4)</a:t>
            </a:r>
          </a:p>
        </p:txBody>
      </p:sp>
      <p:sp>
        <p:nvSpPr>
          <p:cNvPr id="4" name="Rounded Rectangle 3"/>
          <p:cNvSpPr/>
          <p:nvPr/>
        </p:nvSpPr>
        <p:spPr>
          <a:xfrm>
            <a:off x="731520" y="1280160"/>
            <a:ext cx="52578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417320"/>
            <a:ext cx="4983480" cy="2057400"/>
          </a:xfrm>
          <a:prstGeom prst="rect">
            <a:avLst/>
          </a:prstGeom>
          <a:noFill/>
        </p:spPr>
        <p:txBody>
          <a:bodyPr wrap="square">
            <a:spAutoFit/>
          </a:bodyPr>
          <a:lstStyle/>
          <a:p>
            <a:pPr>
              <a:defRPr b="1" sz="1100">
                <a:solidFill>
                  <a:srgbClr val="DC2626"/>
                </a:solidFill>
                <a:latin typeface="Segoe UI"/>
              </a:defRPr>
            </a:pPr>
            <a:r>
              <a:t>KỊCH BẢN 1: BÓP BĂNG THÔNG THEO GÓI</a:t>
            </a:r>
          </a:p>
          <a:p>
            <a:pPr>
              <a:spcBef>
                <a:spcPts val="600"/>
              </a:spcBef>
              <a:defRPr sz="950">
                <a:solidFill>
                  <a:srgbClr val="0F172A"/>
                </a:solidFill>
                <a:latin typeface="Segoe UI"/>
              </a:defRPr>
            </a:pPr>
            <a:r>
              <a:t>• Dấu hiệu: SAPC hết dung lượng tốc độ cao; BTools xuất hiện mã bóp 10002..10014.</a:t>
            </a:r>
            <a:br/>
            <a:r>
              <a:t>• Nguyên nhân: Dùng hết data gói trong chu kỳ.</a:t>
            </a:r>
            <a:br/>
            <a:r>
              <a:t>• OneOSS: Hạ băng thông theo chính sách gói cước.</a:t>
            </a:r>
            <a:br/>
            <a:r>
              <a:t>• Xử lý: Tư vấn khách hàng mua thêm gói addon ngày/tuần.</a:t>
            </a:r>
          </a:p>
        </p:txBody>
      </p:sp>
      <p:sp>
        <p:nvSpPr>
          <p:cNvPr id="6" name="Rounded Rectangle 5"/>
          <p:cNvSpPr/>
          <p:nvPr/>
        </p:nvSpPr>
        <p:spPr>
          <a:xfrm>
            <a:off x="6172200" y="1280160"/>
            <a:ext cx="52578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417320"/>
            <a:ext cx="4983480" cy="2057400"/>
          </a:xfrm>
          <a:prstGeom prst="rect">
            <a:avLst/>
          </a:prstGeom>
          <a:noFill/>
        </p:spPr>
        <p:txBody>
          <a:bodyPr wrap="square">
            <a:spAutoFit/>
          </a:bodyPr>
          <a:lstStyle/>
          <a:p>
            <a:pPr>
              <a:defRPr b="1" sz="1100">
                <a:solidFill>
                  <a:srgbClr val="16A34A"/>
                </a:solidFill>
                <a:latin typeface="Segoe UI"/>
              </a:defRPr>
            </a:pPr>
            <a:r>
              <a:t>KỊCH BẢN 2: HOẠT ĐỘNG BÌNH THƯỜNG (TỰ PHỤC HỒI)</a:t>
            </a:r>
          </a:p>
          <a:p>
            <a:pPr>
              <a:spcBef>
                <a:spcPts val="600"/>
              </a:spcBef>
              <a:defRPr sz="950">
                <a:solidFill>
                  <a:srgbClr val="0F172A"/>
                </a:solidFill>
                <a:latin typeface="Segoe UI"/>
              </a:defRPr>
            </a:pPr>
            <a:r>
              <a:t>• Dấu hiệu: Sau mốc phản ánh, BTools ghi nhận phiên &gt; 10MB hoặc tổng &gt; 30MB, sóng 4G tốt.</a:t>
            </a:r>
            <a:br/>
            <a:r>
              <a:t>• Nguyên nhân: Sự cố tạm thời đã qua (đã rời vùng mất sóng).</a:t>
            </a:r>
            <a:br/>
            <a:r>
              <a:t>• OneOSS: Mạng lưới đảm bảo chất lượng / Khách hàng theo dõi thêm.</a:t>
            </a:r>
            <a:br/>
            <a:r>
              <a:t>• Xử lý: Đóng phiếu thông báo dịch vụ bình thường.</a:t>
            </a:r>
          </a:p>
        </p:txBody>
      </p:sp>
      <p:sp>
        <p:nvSpPr>
          <p:cNvPr id="8" name="Rounded Rectangle 7"/>
          <p:cNvSpPr/>
          <p:nvPr/>
        </p:nvSpPr>
        <p:spPr>
          <a:xfrm>
            <a:off x="731520" y="3794760"/>
            <a:ext cx="52578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931920"/>
            <a:ext cx="4983480" cy="2057400"/>
          </a:xfrm>
          <a:prstGeom prst="rect">
            <a:avLst/>
          </a:prstGeom>
          <a:noFill/>
        </p:spPr>
        <p:txBody>
          <a:bodyPr wrap="square">
            <a:spAutoFit/>
          </a:bodyPr>
          <a:lstStyle/>
          <a:p>
            <a:pPr>
              <a:defRPr b="1" sz="1100">
                <a:solidFill>
                  <a:srgbClr val="D97706"/>
                </a:solidFill>
                <a:latin typeface="Segoe UI"/>
              </a:defRPr>
            </a:pPr>
            <a:r>
              <a:t>KỊCH BẢN 3: ĐẶC THÙ ĐỊA HÌNH BIỂN ĐẢO</a:t>
            </a:r>
          </a:p>
          <a:p>
            <a:pPr>
              <a:spcBef>
                <a:spcPts val="600"/>
              </a:spcBef>
              <a:defRPr sz="950">
                <a:solidFill>
                  <a:srgbClr val="0F172A"/>
                </a:solidFill>
                <a:latin typeface="Segoe UI"/>
              </a:defRPr>
            </a:pPr>
            <a:r>
              <a:t>• Dấu hiệu: Khách báo sóng yếu tại đặc khu/hải đảo (Phú Quốc, Côn Đảo...). Trạm CEM ở xa.</a:t>
            </a:r>
            <a:br/>
            <a:r>
              <a:t>• Nguyên nhân: Suy hao truyền dẫn tự nhiên trên mặt biển.</a:t>
            </a:r>
            <a:br/>
            <a:r>
              <a:t>• OneOSS: Do địa hình / vật cản / Theo dõi thêm.</a:t>
            </a:r>
            <a:br/>
            <a:r>
              <a:t>• Xử lý: Giải thích đặc thù vùng phủ, chuyển ban phát triển trạm.</a:t>
            </a:r>
          </a:p>
        </p:txBody>
      </p:sp>
      <p:sp>
        <p:nvSpPr>
          <p:cNvPr id="10" name="Rounded Rectangle 9"/>
          <p:cNvSpPr/>
          <p:nvPr/>
        </p:nvSpPr>
        <p:spPr>
          <a:xfrm>
            <a:off x="6172200" y="3794760"/>
            <a:ext cx="5257800" cy="23317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3931920"/>
            <a:ext cx="4983480" cy="2057400"/>
          </a:xfrm>
          <a:prstGeom prst="rect">
            <a:avLst/>
          </a:prstGeom>
          <a:noFill/>
        </p:spPr>
        <p:txBody>
          <a:bodyPr wrap="square">
            <a:spAutoFit/>
          </a:bodyPr>
          <a:lstStyle/>
          <a:p>
            <a:pPr>
              <a:defRPr b="1" sz="1100">
                <a:solidFill>
                  <a:srgbClr val="0052A5"/>
                </a:solidFill>
                <a:latin typeface="Segoe UI"/>
              </a:defRPr>
            </a:pPr>
            <a:r>
              <a:t>KỊCH BẢN 4: LƯU LƯỢNG YẾU - TẬP TRUNG 1 TRẠM</a:t>
            </a:r>
          </a:p>
          <a:p>
            <a:pPr>
              <a:spcBef>
                <a:spcPts val="600"/>
              </a:spcBef>
              <a:defRPr sz="950">
                <a:solidFill>
                  <a:srgbClr val="0F172A"/>
                </a:solidFill>
                <a:latin typeface="Segoe UI"/>
              </a:defRPr>
            </a:pPr>
            <a:r>
              <a:t>• Dấu hiệu: Lưu lượng &lt; 1MB/phiên. &gt; 90% kết nối tập trung 1 Cell CEM có RSRP &lt; -105 dBm.</a:t>
            </a:r>
            <a:br/>
            <a:r>
              <a:t>• Nguyên nhân: Mép vùng phủ sóng hoặc trạm phát quá tải cục bộ.</a:t>
            </a:r>
            <a:br/>
            <a:r>
              <a:t>• OneOSS: Do vùng phủ sóng / Tối ưu trạm BTS.</a:t>
            </a:r>
            <a:br/>
            <a:r>
              <a:t>• Xử lý: Chuyển VTT địa bàn đo kiểm và tối ưu góc ngẩng anten.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 THƯ VIỆN KỸ THUẬT &amp; 7 KỊCH BẢN CHẨN ĐOÁN (60 PHÚT)</a:t>
            </a:r>
          </a:p>
          <a:p>
            <a:pPr>
              <a:spcBef>
                <a:spcPts val="300"/>
              </a:spcBef>
              <a:defRPr sz="1800" b="1">
                <a:solidFill>
                  <a:srgbClr val="0A192F"/>
                </a:solidFill>
                <a:latin typeface="Segoe UI"/>
              </a:defRPr>
            </a:pPr>
            <a:r>
              <a:t>PHẦN II: 7 KỊCH BẢN CHẨN ĐOÁN KỸ THUẬT (KỊCH BẢN 5 - 7)</a:t>
            </a:r>
          </a:p>
        </p:txBody>
      </p:sp>
      <p:sp>
        <p:nvSpPr>
          <p:cNvPr id="4" name="Rounded Rectangle 3"/>
          <p:cNvSpPr/>
          <p:nvPr/>
        </p:nvSpPr>
        <p:spPr>
          <a:xfrm>
            <a:off x="731520" y="128016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17320"/>
            <a:ext cx="10149840" cy="1234440"/>
          </a:xfrm>
          <a:prstGeom prst="rect">
            <a:avLst/>
          </a:prstGeom>
          <a:noFill/>
        </p:spPr>
        <p:txBody>
          <a:bodyPr wrap="square">
            <a:spAutoFit/>
          </a:bodyPr>
          <a:lstStyle/>
          <a:p>
            <a:pPr>
              <a:defRPr b="1" sz="1150">
                <a:solidFill>
                  <a:srgbClr val="0F172A"/>
                </a:solidFill>
                <a:latin typeface="Segoe UI"/>
              </a:defRPr>
            </a:pPr>
            <a:r>
              <a:t>KỊCH BẢN 5: TREO PHIÊN KẾT NỐI (CAUSE CODE 300 / 2042)</a:t>
            </a:r>
          </a:p>
          <a:p>
            <a:pPr>
              <a:spcBef>
                <a:spcPts val="400"/>
              </a:spcBef>
              <a:defRPr sz="950">
                <a:solidFill>
                  <a:srgbClr val="0F172A"/>
                </a:solidFill>
                <a:latin typeface="Segoe UI"/>
              </a:defRPr>
            </a:pPr>
            <a:r>
              <a:t>• Dấu hiệu: BTools có mã ngắt phiên GTP-C timeout 300 hoặc 2042, không phát sinh lưu lượng người dùng.</a:t>
            </a:r>
            <a:br/>
            <a:r>
              <a:t>• Nguyên nhân: Gói cước treo phiên trên Core OCS hoặc máy lỗi cấu hình APN ('m3-world').</a:t>
            </a:r>
            <a:br/>
            <a:r>
              <a:t>• OneOSS: Lỗi đầu cuối / Treo phiên PDP.</a:t>
            </a:r>
            <a:br/>
            <a:r>
              <a:t>• Xử lý: Hướng dẫn bật tắt chế độ máy bay. Nếu không được, chuyển IT reset profile OCS.</a:t>
            </a:r>
          </a:p>
        </p:txBody>
      </p:sp>
      <p:sp>
        <p:nvSpPr>
          <p:cNvPr id="6" name="Rounded Rectangle 5"/>
          <p:cNvSpPr/>
          <p:nvPr/>
        </p:nvSpPr>
        <p:spPr>
          <a:xfrm>
            <a:off x="731520" y="297180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108960"/>
            <a:ext cx="10149840" cy="1234440"/>
          </a:xfrm>
          <a:prstGeom prst="rect">
            <a:avLst/>
          </a:prstGeom>
          <a:noFill/>
        </p:spPr>
        <p:txBody>
          <a:bodyPr wrap="square">
            <a:spAutoFit/>
          </a:bodyPr>
          <a:lstStyle/>
          <a:p>
            <a:pPr>
              <a:defRPr b="1" sz="1150">
                <a:solidFill>
                  <a:srgbClr val="DC2626"/>
                </a:solidFill>
                <a:latin typeface="Segoe UI"/>
              </a:defRPr>
            </a:pPr>
            <a:r>
              <a:t>KỊCH BẢN 6: KHÓA CƯỚC CHIỀU GPRS (CỜ NAM = 1)</a:t>
            </a:r>
          </a:p>
          <a:p>
            <a:pPr>
              <a:spcBef>
                <a:spcPts val="400"/>
              </a:spcBef>
              <a:defRPr sz="950">
                <a:solidFill>
                  <a:srgbClr val="0F172A"/>
                </a:solidFill>
                <a:latin typeface="Segoe UI"/>
              </a:defRPr>
            </a:pPr>
            <a:r>
              <a:t>• Dấu hiệu: Tra cứu SAPC/HSS phát hiện cờ NAM = 1 (màu đỏ cảnh báo).</a:t>
            </a:r>
            <a:br/>
            <a:r>
              <a:t>• Nguyên nhân: Thuê bao bị hệ thống khóa chiều dịch vụ dữ liệu do nợ cước.</a:t>
            </a:r>
            <a:br/>
            <a:r>
              <a:t>• OneOSS: Chặn cước chiều GPRS.</a:t>
            </a:r>
            <a:br/>
            <a:r>
              <a:t>• Xử lý: Thông báo khách hàng thanh toán cước để được tự động mở lại dịch vụ.</a:t>
            </a:r>
          </a:p>
        </p:txBody>
      </p:sp>
      <p:sp>
        <p:nvSpPr>
          <p:cNvPr id="8" name="Rounded Rectangle 7"/>
          <p:cNvSpPr/>
          <p:nvPr/>
        </p:nvSpPr>
        <p:spPr>
          <a:xfrm>
            <a:off x="731520" y="466344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10149840" cy="1234440"/>
          </a:xfrm>
          <a:prstGeom prst="rect">
            <a:avLst/>
          </a:prstGeom>
          <a:noFill/>
        </p:spPr>
        <p:txBody>
          <a:bodyPr wrap="square">
            <a:spAutoFit/>
          </a:bodyPr>
          <a:lstStyle/>
          <a:p>
            <a:pPr>
              <a:defRPr b="1" sz="1150">
                <a:solidFill>
                  <a:srgbClr val="0284C7"/>
                </a:solidFill>
                <a:latin typeface="Segoe UI"/>
              </a:defRPr>
            </a:pPr>
            <a:r>
              <a:t>KỊCH BẢN 7: CẢNH BÁO APP VPN / 1.1.1.1 BÊN THỨ BA</a:t>
            </a:r>
          </a:p>
          <a:p>
            <a:pPr>
              <a:spcBef>
                <a:spcPts val="400"/>
              </a:spcBef>
              <a:defRPr sz="950">
                <a:solidFill>
                  <a:srgbClr val="0F172A"/>
                </a:solidFill>
                <a:latin typeface="Segoe UI"/>
              </a:defRPr>
            </a:pPr>
            <a:r>
              <a:t>• Dấu hiệu: RAT 1, 6 có lưu lượng các phiên duy trì đều nhau bất thường 5MB - 11.5MB (Warp, Turbo VPN).</a:t>
            </a:r>
            <a:br/>
            <a:r>
              <a:t>• Nguyên nhân: Ứng dụng VPN định tuyến qua máy chủ quốc tế làm gián đoạn đường truyền trong nước.</a:t>
            </a:r>
            <a:br/>
            <a:r>
              <a:t>• OneOSS: Lỗi phần mềm / Thiết bị đầu cuối.</a:t>
            </a:r>
            <a:br/>
            <a:r>
              <a:t>• Xử lý: Hướng dẫn khách hàng tạm tắt VPN để sử dụng tốc độ mạng gốc tối đa.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GIAO DIỆN DASHBOARD &amp; ĐỒNG BỘ VNPT TOKEN UTILITIES</a:t>
            </a:r>
          </a:p>
        </p:txBody>
      </p:sp>
      <p:pic>
        <p:nvPicPr>
          <p:cNvPr id="4" name="Picture 3" descr="ui_summary_row.png"/>
          <p:cNvPicPr>
            <a:picLocks noChangeAspect="1"/>
          </p:cNvPicPr>
          <p:nvPr/>
        </p:nvPicPr>
        <p:blipFill>
          <a:blip r:embed="rId2"/>
          <a:stretch>
            <a:fillRect/>
          </a:stretch>
        </p:blipFill>
        <p:spPr>
          <a:xfrm>
            <a:off x="731520" y="1280160"/>
            <a:ext cx="6217920" cy="294339"/>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A192F"/>
                </a:solidFill>
                <a:latin typeface="Segoe UI"/>
              </a:defRPr>
            </a:pPr>
            <a:r>
              <a:t>TIỆN ÍCH MỞ RỘNG &amp; ĐIỀU HÀNH</a:t>
            </a:r>
          </a:p>
          <a:p>
            <a:pPr>
              <a:spcBef>
                <a:spcPts val="800"/>
              </a:spcBef>
              <a:defRPr sz="950">
                <a:solidFill>
                  <a:srgbClr val="0F172A"/>
                </a:solidFill>
                <a:latin typeface="Segoe UI"/>
              </a:defRPr>
            </a:pPr>
            <a:r>
              <a:t>• VNPT TOKEN UTILITIES:</a:t>
            </a:r>
            <a:br/>
            <a:r>
              <a:t>  Extension Chrome tự động đồng bộ Token Bearer OneOSS TTS Mới và Cookie phiên TTS Cũ (34 TTP) sang máy chủ 1234 an toàn.</a:t>
            </a:r>
            <a:br/>
            <a:br/>
            <a:r>
              <a:t>• CHẤM ĐỎ THÔNG BÁO (RED DOT):</a:t>
            </a:r>
            <a:br/>
            <a:r>
              <a:t>  Hiển thị khi có phiếu mới phát sinh; click trực tiếp để đánh dấu đã xem.</a:t>
            </a:r>
            <a:br/>
            <a:br/>
            <a:r>
              <a:t>• SẮP XẾP 2 CHIỀU (SORT):</a:t>
            </a:r>
            <a:br/>
            <a:r>
              <a:t>  Click tiêu đề 'Thời gian sự cố' để đổi thứ tự ưu tiên xử lý.</a:t>
            </a:r>
            <a:br/>
            <a:br/>
            <a:r>
              <a:t>• CHUYỂN TAB 6 PHÂN HỆ:</a:t>
            </a:r>
            <a:br/>
            <a:r>
              <a:t>  Mobile Internet, Cuộc gọi, Chặn spam, Tin nhắn, CVQT, Quản trị KTV.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PHÂN HỆ 1 - MOBILE INTERNET (3 CARD NGHIỆP VỤ - 30 PHÚT)</a:t>
            </a:r>
          </a:p>
        </p:txBody>
      </p:sp>
      <p:pic>
        <p:nvPicPr>
          <p:cNvPr id="4" name="Picture 3" descr="ui_expanded_all.png"/>
          <p:cNvPicPr>
            <a:picLocks noChangeAspect="1"/>
          </p:cNvPicPr>
          <p:nvPr/>
        </p:nvPicPr>
        <p:blipFill>
          <a:blip r:embed="rId2"/>
          <a:stretch>
            <a:fillRect/>
          </a:stretch>
        </p:blipFill>
        <p:spPr>
          <a:xfrm>
            <a:off x="731520" y="1280160"/>
            <a:ext cx="6217920" cy="1694104"/>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052A5"/>
                </a:solidFill>
                <a:latin typeface="Segoe UI"/>
              </a:defRPr>
            </a:pPr>
            <a:r>
              <a:t>BÓC TÁCH 3 CARD CHI TIẾT</a:t>
            </a:r>
          </a:p>
          <a:p>
            <a:pPr>
              <a:spcBef>
                <a:spcPts val="800"/>
              </a:spcBef>
              <a:defRPr sz="950">
                <a:solidFill>
                  <a:srgbClr val="0F172A"/>
                </a:solidFill>
                <a:latin typeface="Segoe UI"/>
              </a:defRPr>
            </a:pPr>
            <a:r>
              <a:t>• CARD 1: THÔNG TIN PHIẾU &amp; KẾT LUẬN</a:t>
            </a:r>
            <a:br/>
            <a:r>
              <a:t>  Mã OneOSS, số thuê bao, nội dung phản ánh, kết luận bot và màu nhận diện.</a:t>
            </a:r>
            <a:br/>
            <a:br/>
            <a:r>
              <a:t>• CARD 2: PROFILE SAPC &amp; SÓNG CEM</a:t>
            </a:r>
            <a:br/>
            <a:r>
              <a:t>  Gói OCS, cờ NAM, QoS cam kết, sóng trạm CEM (RSRP, SINR, mã BTS).</a:t>
            </a:r>
            <a:br/>
            <a:br/>
            <a:r>
              <a:t>• CARD 3: LOG BTOOLS &amp; ONEOSS</a:t>
            </a:r>
            <a:br/>
            <a:r>
              <a:t>  Danh sách phiên CDR, nút 1-click nhận diện Phường/Xã từ GPS trạm, chọn mã lỗi và nút đóng phiếu OneOSS.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PHÂN HỆ 2 - CUỘC GỌI &amp; THOẠI (VOLTE, HLR, CỜ NAM - 20 PHÚT)</a:t>
            </a:r>
          </a:p>
        </p:txBody>
      </p:sp>
      <p:pic>
        <p:nvPicPr>
          <p:cNvPr id="4" name="Picture 3" descr="module_cuoc_goi_1791814562393.png"/>
          <p:cNvPicPr>
            <a:picLocks noChangeAspect="1"/>
          </p:cNvPicPr>
          <p:nvPr/>
        </p:nvPicPr>
        <p:blipFill>
          <a:blip r:embed="rId2"/>
          <a:stretch>
            <a:fillRect/>
          </a:stretch>
        </p:blipFill>
        <p:spPr>
          <a:xfrm>
            <a:off x="731520" y="1280160"/>
            <a:ext cx="6217920" cy="2950274"/>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A192F"/>
                </a:solidFill>
                <a:latin typeface="Segoe UI"/>
              </a:defRPr>
            </a:pPr>
            <a:r>
              <a:t>NGHIỆP VỤ TIỀN KIỂM THOẠI</a:t>
            </a:r>
          </a:p>
          <a:p>
            <a:pPr>
              <a:spcBef>
                <a:spcPts val="800"/>
              </a:spcBef>
              <a:defRPr sz="950">
                <a:solidFill>
                  <a:srgbClr val="0F172A"/>
                </a:solidFill>
                <a:latin typeface="Segoe UI"/>
              </a:defRPr>
            </a:pPr>
            <a:r>
              <a:t>• CỜ KHÓA CƯỚC THOẠI (NAM):</a:t>
            </a:r>
            <a:br/>
            <a:r>
              <a:t>  NAM: 0 (Mở) - Xanh lá | NAM: 1 (Khóa nợ cước) - Đỏ.</a:t>
            </a:r>
            <a:br/>
            <a:br/>
            <a:r>
              <a:t>• HSS PROFILE THOẠI &amp; VOLTE:</a:t>
            </a:r>
            <a:br/>
            <a:r>
              <a:t>  Kiểm tra kích hoạt IMS VoLTE. Cảnh báo PROFILE LẠ nếu chưa cấu hình chuẩn.</a:t>
            </a:r>
            <a:br/>
            <a:br/>
            <a:r>
              <a:t>• LỖI RỚT MẠNG CSFB:</a:t>
            </a:r>
            <a:br/>
            <a:r>
              <a:t>  Khách báo mất 4G khi có cuộc gọi -&gt; Hướng dẫn soạn HDV gửi 888 bật VoLTE.</a:t>
            </a:r>
            <a:br/>
            <a:br/>
            <a:r>
              <a:t>• NÚT CHUYỂN BƯỚC 2.4 NHANH:</a:t>
            </a:r>
            <a:br/>
            <a:r>
              <a:t>  Duyệt nhanh chuyển bước 2.4/2.6 theo đúng quy chuẩn OneOSS.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PHÂN HỆ 3 - CHẶN SPAM NGOẠI MẠNG (NGHỊ ĐỊNH 91 &amp; CCOS - 15 PHÚT)</a:t>
            </a:r>
          </a:p>
        </p:txBody>
      </p:sp>
      <p:pic>
        <p:nvPicPr>
          <p:cNvPr id="4" name="Picture 3" descr="module_chan_spam_1791814585623.png"/>
          <p:cNvPicPr>
            <a:picLocks noChangeAspect="1"/>
          </p:cNvPicPr>
          <p:nvPr/>
        </p:nvPicPr>
        <p:blipFill>
          <a:blip r:embed="rId2"/>
          <a:stretch>
            <a:fillRect/>
          </a:stretch>
        </p:blipFill>
        <p:spPr>
          <a:xfrm>
            <a:off x="731520" y="1280160"/>
            <a:ext cx="6217920" cy="2950274"/>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284C7"/>
                </a:solidFill>
                <a:latin typeface="Segoe UI"/>
              </a:defRPr>
            </a:pPr>
            <a:r>
              <a:t>ĐỐI SOÁT CAM KẾT CCOS</a:t>
            </a:r>
          </a:p>
          <a:p>
            <a:pPr>
              <a:spcBef>
                <a:spcPts val="800"/>
              </a:spcBef>
              <a:defRPr sz="950">
                <a:solidFill>
                  <a:srgbClr val="0F172A"/>
                </a:solidFill>
                <a:latin typeface="Segoe UI"/>
              </a:defRPr>
            </a:pPr>
            <a:r>
              <a:t>• NHÀ MẠNG BỊ ẢNH HƯỞNG:</a:t>
            </a:r>
            <a:br/>
            <a:r>
              <a:t>  Tự động gắn huy hiệu nhà mạng chặn cuộc gọi (Viettel, MobiFone, Vietnamobile...).</a:t>
            </a:r>
            <a:br/>
            <a:br/>
            <a:r>
              <a:t>• ĐÃ CÓ BẢN CAM KẾT (XANH LÁ):</a:t>
            </a:r>
            <a:br/>
            <a:r>
              <a:t>  Tìm thấy biên bản cam kết đính kèm trên CCOS. KTV chọn: 'Đã có bản cam kết, chuyển KTV kiểm tra mở chặn'.</a:t>
            </a:r>
            <a:br/>
            <a:br/>
            <a:r>
              <a:t>• CHƯA CÓ BẢN CAM KẾT (ĐỎ):</a:t>
            </a:r>
            <a:br/>
            <a:r>
              <a:t>  Chưa có cam kết trên CCOS. Hướng dẫn khách ra quầy ký biên bản cam kết không gọi rác.</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PHÂN HỆ 4 - TIN NHẮN SMS &amp; CỔNG TRA CỨU SMSC CDR GATEWAY (15 PHÚT)</a:t>
            </a:r>
          </a:p>
        </p:txBody>
      </p:sp>
      <p:pic>
        <p:nvPicPr>
          <p:cNvPr id="4" name="Picture 3" descr="module_tin_nhan_1791814616208.png"/>
          <p:cNvPicPr>
            <a:picLocks noChangeAspect="1"/>
          </p:cNvPicPr>
          <p:nvPr/>
        </p:nvPicPr>
        <p:blipFill>
          <a:blip r:embed="rId2"/>
          <a:stretch>
            <a:fillRect/>
          </a:stretch>
        </p:blipFill>
        <p:spPr>
          <a:xfrm>
            <a:off x="731520" y="1280160"/>
            <a:ext cx="6217920" cy="2950274"/>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052A5"/>
                </a:solidFill>
                <a:latin typeface="Segoe UI"/>
              </a:defRPr>
            </a:pPr>
            <a:r>
              <a:t>ĐỐI SOÁT SMS THỜI GIAN THỰC</a:t>
            </a:r>
          </a:p>
          <a:p>
            <a:pPr>
              <a:spcBef>
                <a:spcPts val="800"/>
              </a:spcBef>
              <a:defRPr sz="950">
                <a:solidFill>
                  <a:srgbClr val="0F172A"/>
                </a:solidFill>
                <a:latin typeface="Segoe UI"/>
              </a:defRPr>
            </a:pPr>
            <a:r>
              <a:t>• CỔNG SMSC GATEWAY TRỰC TIẾP:</a:t>
            </a:r>
            <a:br/>
            <a:r>
              <a:t>  Tích hợp nút 'Tra cứu SMSC CDR' tại từng phiếu, mở modal xem trực tiếp lịch sử tin nhắn trong 7 ngày.</a:t>
            </a:r>
            <a:br/>
            <a:br/>
            <a:r>
              <a:t>• CHI TIẾT BẢN TIN CDR:</a:t>
            </a:r>
            <a:br/>
            <a:r>
              <a:t>  - Thời gian gửi/nhận chính xác đến từng giây.</a:t>
            </a:r>
            <a:br/>
            <a:r>
              <a:t>  - Đầu số Brandname (Ngân hàng, VNeID, OTP Google, Facebook...).</a:t>
            </a:r>
            <a:br/>
            <a:r>
              <a:t>  - Mã trạng thái phát tin Delivery Status.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BẢNG MÃ TRẠNG THÁI PHÂN PHÁT TIN NHẮN SMSC GATEWAY</a:t>
            </a:r>
          </a:p>
        </p:txBody>
      </p:sp>
      <p:pic>
        <p:nvPicPr>
          <p:cNvPr id="4" name="Picture 3" descr="smsc_cdr_modal_1791814637383.png"/>
          <p:cNvPicPr>
            <a:picLocks noChangeAspect="1"/>
          </p:cNvPicPr>
          <p:nvPr/>
        </p:nvPicPr>
        <p:blipFill>
          <a:blip r:embed="rId2"/>
          <a:stretch>
            <a:fillRect/>
          </a:stretch>
        </p:blipFill>
        <p:spPr>
          <a:xfrm>
            <a:off x="731520" y="1280160"/>
            <a:ext cx="6217920" cy="2950274"/>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A192F"/>
                </a:solidFill>
                <a:latin typeface="Segoe UI"/>
              </a:defRPr>
            </a:pPr>
            <a:r>
              <a:t>BẢNG MÃ LỖI SMSC TIÊU CHUẨN</a:t>
            </a:r>
          </a:p>
          <a:p>
            <a:pPr>
              <a:spcBef>
                <a:spcPts val="800"/>
              </a:spcBef>
              <a:defRPr sz="900">
                <a:solidFill>
                  <a:srgbClr val="0F172A"/>
                </a:solidFill>
                <a:latin typeface="Segoe UI"/>
              </a:defRPr>
            </a:pPr>
            <a:r>
              <a:t>• MÃ 0 (DELIVERED): Thành công, tin đã phát đến máy. Hướng dẫn khách kiểm tra thư mục Spam.</a:t>
            </a:r>
            <a:br/>
            <a:br/>
            <a:r>
              <a:t>• MÃ 1 (EXPIRED): Hết hạn lưu tin trên SMSC do thuê bao tắt máy/mất sóng liên tục.</a:t>
            </a:r>
            <a:br/>
            <a:br/>
            <a:r>
              <a:t>• MÃ 6 (UNDELIVERABLE): Không thể phát (SIM hỏng, máy đầy bộ nhớ, chặn Brandname).</a:t>
            </a:r>
            <a:br/>
            <a:br/>
            <a:r>
              <a:t>• MÃ 21 (ABSENT SUBSCRIBER): Thuê bao tắt máy/ngoài vùng phủ lúc gửi OTP.</a:t>
            </a:r>
            <a:br/>
            <a:br/>
            <a:r>
              <a:t>• MÃ 27 (CALL BARRED): Bị chặn chiều nhận tin nhắn trên HLR Core.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III: CẨM NANG VẬN HÀNH THỰC CHIẾN 6 PHÂN HỆ (90 PHÚT)</a:t>
            </a:r>
          </a:p>
          <a:p>
            <a:pPr>
              <a:spcBef>
                <a:spcPts val="300"/>
              </a:spcBef>
              <a:defRPr sz="1800" b="1">
                <a:solidFill>
                  <a:srgbClr val="0A192F"/>
                </a:solidFill>
                <a:latin typeface="Segoe UI"/>
              </a:defRPr>
            </a:pPr>
            <a:r>
              <a:t>PHẦN III: PHÂN HỆ 5 &amp; 6 - CVQT (ROAMING), SIM / ESIM &amp; QUẢN TRỊ SOC (10 PHÚT)</a:t>
            </a:r>
          </a:p>
        </p:txBody>
      </p:sp>
      <p:sp>
        <p:nvSpPr>
          <p:cNvPr id="4" name="Rounded Rectangle 3"/>
          <p:cNvSpPr/>
          <p:nvPr/>
        </p:nvSpPr>
        <p:spPr>
          <a:xfrm>
            <a:off x="731520" y="128016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4663440"/>
          </a:xfrm>
          <a:prstGeom prst="rect">
            <a:avLst/>
          </a:prstGeom>
          <a:noFill/>
        </p:spPr>
        <p:txBody>
          <a:bodyPr wrap="square">
            <a:spAutoFit/>
          </a:bodyPr>
          <a:lstStyle/>
          <a:p>
            <a:pPr>
              <a:defRPr b="1" sz="1200">
                <a:solidFill>
                  <a:srgbClr val="0284C7"/>
                </a:solidFill>
                <a:latin typeface="Segoe UI"/>
              </a:defRPr>
            </a:pPr>
            <a:r>
              <a:t>PHÂN HỆ 5: CVQT (ROAMING) &amp; SIM / ESIM</a:t>
            </a:r>
          </a:p>
          <a:p>
            <a:pPr>
              <a:spcBef>
                <a:spcPts val="800"/>
              </a:spcBef>
              <a:defRPr sz="1000">
                <a:solidFill>
                  <a:srgbClr val="0F172A"/>
                </a:solidFill>
                <a:latin typeface="Segoe UI"/>
              </a:defRPr>
            </a:pPr>
            <a:r>
              <a:t>• CHUYỂN VÙNG QUỐC TẾ (IR):</a:t>
            </a:r>
            <a:br/>
            <a:r>
              <a:t>  - Kiểm tra mở dịch vụ IR trước xuất cảnh (DK CVQT gửi 9123).</a:t>
            </a:r>
            <a:br/>
            <a:r>
              <a:t>  - Kiểm tra hạn dùng gói Data Roaming (R500N, IR_POST).</a:t>
            </a:r>
            <a:br/>
            <a:r>
              <a:t>  - Bắt buộc bật 'Chuyển vùng dữ liệu' trên máy khách.</a:t>
            </a:r>
            <a:br/>
            <a:br/>
            <a:r>
              <a:t>• LỖI SIM VẬT LÝ &amp; ESIM:</a:t>
            </a:r>
            <a:br/>
            <a:r>
              <a:t>  - Phôi SIM cũ trước 2018 -&gt; Tư vấn đổi USIM 4G/5G.</a:t>
            </a:r>
            <a:br/>
            <a:r>
              <a:t>  - SIM mòn tiếp xúc mạch đồng báo No SIM.</a:t>
            </a:r>
            <a:br/>
            <a:r>
              <a:t>  - Đổi máy làm mất eSIM -&gt; Hướng dẫn quét lại QR qua MyVNPT.</a:t>
            </a:r>
          </a:p>
        </p:txBody>
      </p:sp>
      <p:sp>
        <p:nvSpPr>
          <p:cNvPr id="6" name="Rounded Rectangle 5"/>
          <p:cNvSpPr/>
          <p:nvPr/>
        </p:nvSpPr>
        <p:spPr>
          <a:xfrm>
            <a:off x="6217920" y="128016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17320"/>
            <a:ext cx="4846320" cy="4663440"/>
          </a:xfrm>
          <a:prstGeom prst="rect">
            <a:avLst/>
          </a:prstGeom>
          <a:noFill/>
        </p:spPr>
        <p:txBody>
          <a:bodyPr wrap="square">
            <a:spAutoFit/>
          </a:bodyPr>
          <a:lstStyle/>
          <a:p>
            <a:pPr>
              <a:defRPr b="1" sz="1200">
                <a:solidFill>
                  <a:srgbClr val="0A192F"/>
                </a:solidFill>
                <a:latin typeface="Segoe UI"/>
              </a:defRPr>
            </a:pPr>
            <a:r>
              <a:t>PHÂN HỆ 6: QUẢN TRỊ KTV SOC &amp; GIÁM SÁT SLA</a:t>
            </a:r>
          </a:p>
          <a:p>
            <a:pPr>
              <a:spcBef>
                <a:spcPts val="800"/>
              </a:spcBef>
              <a:defRPr sz="1000">
                <a:solidFill>
                  <a:srgbClr val="0F172A"/>
                </a:solidFill>
                <a:latin typeface="Segoe UI"/>
              </a:defRPr>
            </a:pPr>
            <a:r>
              <a:t>• PHÂN VÙNG PHỤ TRÁCH KTV:</a:t>
            </a:r>
            <a:br/>
            <a:r>
              <a:t>  Gán KTV vào từng Tỉnh/TP hoặc nhóm dịch vụ cụ thể.</a:t>
            </a:r>
            <a:br/>
            <a:br/>
            <a:r>
              <a:t>• CẤU HÌNH AUTO-CLOSE AN TOÀN:</a:t>
            </a:r>
            <a:br/>
            <a:r>
              <a:t>  Bật tự động đóng phiếu theo các tiêu chí khắt khe đã được phê duyệt.</a:t>
            </a:r>
            <a:br/>
            <a:br/>
            <a:r>
              <a:t>• THEO DÕI NĂNG SUẤT CA TRỰC:</a:t>
            </a:r>
            <a:br/>
            <a:r>
              <a:t>  Giám sát số lượng phiếu xử lý, tỷ lệ đạt SLA và độ chính xác phân loại của từng KTV.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IV: QUY CHUẨN ĐÓNG PHIẾU 5.1 &amp; AUTO-CLOSE AN TOÀN (45 PHÚT)</a:t>
            </a:r>
          </a:p>
          <a:p>
            <a:pPr>
              <a:spcBef>
                <a:spcPts val="300"/>
              </a:spcBef>
              <a:defRPr sz="1800" b="1">
                <a:solidFill>
                  <a:srgbClr val="0A192F"/>
                </a:solidFill>
                <a:latin typeface="Segoe UI"/>
              </a:defRPr>
            </a:pPr>
            <a:r>
              <a:t>PHẦN IV: VẬN HÀNH CHẾ ĐỘ AUTO-CLOSE CÓ KIỂM SOÁT AN TOÀN</a:t>
            </a:r>
          </a:p>
        </p:txBody>
      </p:sp>
      <p:sp>
        <p:nvSpPr>
          <p:cNvPr id="4" name="Rounded Rectangle 3"/>
          <p:cNvSpPr/>
          <p:nvPr/>
        </p:nvSpPr>
        <p:spPr>
          <a:xfrm>
            <a:off x="731520" y="1280160"/>
            <a:ext cx="106984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63040"/>
            <a:ext cx="10149840" cy="4572000"/>
          </a:xfrm>
          <a:prstGeom prst="rect">
            <a:avLst/>
          </a:prstGeom>
          <a:noFill/>
        </p:spPr>
        <p:txBody>
          <a:bodyPr wrap="square">
            <a:spAutoFit/>
          </a:bodyPr>
          <a:lstStyle/>
          <a:p>
            <a:pPr>
              <a:defRPr b="1" sz="1400">
                <a:solidFill>
                  <a:srgbClr val="16A34A"/>
                </a:solidFill>
                <a:latin typeface="Segoe UI"/>
              </a:defRPr>
            </a:pPr>
            <a:r>
              <a:t>3 TIÊU CHÍ VÀNG ĐỂ KÍCH HOẠT ĐÓNG PHIẾU TỰ ĐỘNG (AUTO-CLOSE)</a:t>
            </a:r>
          </a:p>
          <a:p>
            <a:pPr>
              <a:spcBef>
                <a:spcPts val="1000"/>
              </a:spcBef>
              <a:defRPr b="1" sz="1100">
                <a:solidFill>
                  <a:srgbClr val="0A192F"/>
                </a:solidFill>
                <a:latin typeface="Segoe UI"/>
              </a:defRPr>
            </a:pPr>
            <a:r>
              <a:t>TIÊU CHÍ 1: KẾT QUẢ TIỀN KIỂM PHẢI RÕ RÀNG</a:t>
            </a:r>
          </a:p>
          <a:p>
            <a:pPr>
              <a:spcBef>
                <a:spcPts val="200"/>
              </a:spcBef>
              <a:defRPr sz="1050">
                <a:solidFill>
                  <a:srgbClr val="0F172A"/>
                </a:solidFill>
                <a:latin typeface="Segoe UI"/>
              </a:defRPr>
            </a:pPr>
            <a:r>
              <a:t>Chỉ tự động đóng phiếu khi bot xác nhận: (1) Mạng lưới đảm bảo chất lượng HOẶC (2) Bóp băng thông theo chính sách gói cước HOẶC (3) Hoạt động bình thường sau thời điểm sự cố.</a:t>
            </a:r>
          </a:p>
          <a:p>
            <a:pPr>
              <a:spcBef>
                <a:spcPts val="1000"/>
              </a:spcBef>
              <a:defRPr b="1" sz="1100">
                <a:solidFill>
                  <a:srgbClr val="0A192F"/>
                </a:solidFill>
                <a:latin typeface="Segoe UI"/>
              </a:defRPr>
            </a:pPr>
            <a:r>
              <a:t>TIÊU CHÍ 2: TUYỆT ĐỐI BỎ QUA THUÊ BAO VIP</a:t>
            </a:r>
          </a:p>
          <a:p>
            <a:pPr>
              <a:spcBef>
                <a:spcPts val="200"/>
              </a:spcBef>
              <a:defRPr sz="1050">
                <a:solidFill>
                  <a:srgbClr val="0F172A"/>
                </a:solidFill>
                <a:latin typeface="Segoe UI"/>
              </a:defRPr>
            </a:pPr>
            <a:r>
              <a:t>Nếu thuê bao được gắn nhãn VIP hoặc khách hàng doanh nghiệp lớn -&gt; Hệ thống bypass không đóng tự động, bắt buộc KTV trực ca thẩm định trực tiếp.</a:t>
            </a:r>
          </a:p>
          <a:p>
            <a:pPr>
              <a:spcBef>
                <a:spcPts val="1000"/>
              </a:spcBef>
              <a:defRPr b="1" sz="1100">
                <a:solidFill>
                  <a:srgbClr val="0A192F"/>
                </a:solidFill>
                <a:latin typeface="Segoe UI"/>
              </a:defRPr>
            </a:pPr>
            <a:r>
              <a:t>TIÊU CHÍ 3: LOẠI TRỪ PHIẾU MỞ LẠI NHIỀU LẦN (REOPENED)</a:t>
            </a:r>
          </a:p>
          <a:p>
            <a:pPr>
              <a:spcBef>
                <a:spcPts val="200"/>
              </a:spcBef>
              <a:defRPr sz="1050">
                <a:solidFill>
                  <a:srgbClr val="0F172A"/>
                </a:solidFill>
                <a:latin typeface="Segoe UI"/>
              </a:defRPr>
            </a:pPr>
            <a:r>
              <a:t>Các phiếu khách hàng khiếu nại lại lần 2, lần 3 không được phép đóng tự động; cần chuyển KTV chuyên sâu kiểm tra lịch sử xử lý trước đó.</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IV: QUY CHUẨN ĐÓNG PHIẾU 5.1 &amp; AUTO-CLOSE AN TOÀN (45 PHÚT)</a:t>
            </a:r>
          </a:p>
          <a:p>
            <a:pPr>
              <a:spcBef>
                <a:spcPts val="300"/>
              </a:spcBef>
              <a:defRPr sz="1800" b="1">
                <a:solidFill>
                  <a:srgbClr val="0A192F"/>
                </a:solidFill>
                <a:latin typeface="Segoe UI"/>
              </a:defRPr>
            </a:pPr>
            <a:r>
              <a:t>PHẦN IV: QUY CHUẨN ĐỊA GIỚI HÀNH CHÍNH 2 CẤP KHI ĐÓNG PHIẾU 5.1 (20 PHÚT)</a:t>
            </a:r>
          </a:p>
        </p:txBody>
      </p:sp>
      <p:pic>
        <p:nvPicPr>
          <p:cNvPr id="4" name="Picture 3" descr="ui_ward_detect.png"/>
          <p:cNvPicPr>
            <a:picLocks noChangeAspect="1"/>
          </p:cNvPicPr>
          <p:nvPr/>
        </p:nvPicPr>
        <p:blipFill>
          <a:blip r:embed="rId2"/>
          <a:stretch>
            <a:fillRect/>
          </a:stretch>
        </p:blipFill>
        <p:spPr>
          <a:xfrm>
            <a:off x="731520" y="1280160"/>
            <a:ext cx="6217920" cy="1407831"/>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D97706"/>
                </a:solidFill>
                <a:latin typeface="Segoe UI"/>
              </a:defRPr>
            </a:pPr>
            <a:r>
              <a:t>QUY CHUẨN ĐỊA BÀN 2 CẤP</a:t>
            </a:r>
          </a:p>
          <a:p>
            <a:pPr>
              <a:spcBef>
                <a:spcPts val="600"/>
              </a:spcBef>
              <a:defRPr sz="950">
                <a:solidFill>
                  <a:srgbClr val="0F172A"/>
                </a:solidFill>
                <a:latin typeface="Segoe UI"/>
              </a:defRPr>
            </a:pPr>
            <a:r>
              <a:t>• ĐỊNH DẠNG DUY NHẤT 2 CẤP:</a:t>
            </a:r>
            <a:br/>
            <a:r>
              <a:t>  [Phường/Xã/Thị trấn], [Tỉnh/Thành phố]</a:t>
            </a:r>
            <a:br/>
            <a:r>
              <a:t>  (VD: Phường Bến Nghé, TP. Hồ Chí Minh).</a:t>
            </a:r>
            <a:br/>
            <a:br/>
            <a:r>
              <a:t>• CẤM TUYỆT ĐỐI:</a:t>
            </a:r>
            <a:br/>
            <a:r>
              <a:t>  Không lấy cấp thôn, ấp, bản, khóm, tổ (Ấp 1, Thôn 3).</a:t>
            </a:r>
            <a:br/>
            <a:r>
              <a:t>  Không dùng mã trạm viết tắt (PLO, DLI, BLU).</a:t>
            </a:r>
            <a:br/>
            <a:br/>
            <a:r>
              <a:t>• CÁCH 1 (1-CLICK TỰ ĐỘNG - KHUYÊN DÙNG):</a:t>
            </a:r>
            <a:br/>
            <a:r>
              <a:t>  Bấm nút mũi tên xanh (↑) cạnh Radio ở Card 2. Hệ thống lấy GPS trạm tự động điền chuẩn!</a:t>
            </a:r>
            <a:br/>
            <a:br/>
            <a:r>
              <a:t>• CÁCH 2 (SỬA TEXT THỦ CÔNG):</a:t>
            </a:r>
            <a:br/>
            <a:r>
              <a:t>  Xóa bỏ phần ấp, giữ lại đúng Phường/Xã và Tỉnh/TP.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IV: QUY CHUẨN ĐÓNG PHIẾU 5.1 &amp; AUTO-CLOSE AN TOÀN (45 PHÚT)</a:t>
            </a:r>
          </a:p>
          <a:p>
            <a:pPr>
              <a:spcBef>
                <a:spcPts val="300"/>
              </a:spcBef>
              <a:defRPr sz="1800" b="1">
                <a:solidFill>
                  <a:srgbClr val="0A192F"/>
                </a:solidFill>
                <a:latin typeface="Segoe UI"/>
              </a:defRPr>
            </a:pPr>
            <a:r>
              <a:t>PHẦN IV: DANH MỤC 34 TỈNH / THÀNH PHỐ MỚI &amp; PHÂN BỔ 3 MIỀN</a:t>
            </a:r>
          </a:p>
        </p:txBody>
      </p:sp>
      <p:sp>
        <p:nvSpPr>
          <p:cNvPr id="4" name="Rounded Rectangle 3"/>
          <p:cNvSpPr/>
          <p:nvPr/>
        </p:nvSpPr>
        <p:spPr>
          <a:xfrm>
            <a:off x="731520" y="128016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417320"/>
            <a:ext cx="10149840" cy="1234440"/>
          </a:xfrm>
          <a:prstGeom prst="rect">
            <a:avLst/>
          </a:prstGeom>
          <a:noFill/>
        </p:spPr>
        <p:txBody>
          <a:bodyPr wrap="square">
            <a:spAutoFit/>
          </a:bodyPr>
          <a:lstStyle/>
          <a:p>
            <a:pPr>
              <a:defRPr b="1" sz="1200">
                <a:solidFill>
                  <a:srgbClr val="0052A5"/>
                </a:solidFill>
                <a:latin typeface="Segoe UI"/>
              </a:defRPr>
            </a:pPr>
            <a:r>
              <a:t>MIỀN BẮC (MB) — 18 ĐƠN VỊ</a:t>
            </a:r>
          </a:p>
          <a:p>
            <a:pPr>
              <a:spcBef>
                <a:spcPts val="400"/>
              </a:spcBef>
              <a:defRPr sz="950">
                <a:solidFill>
                  <a:srgbClr val="0F172A"/>
                </a:solidFill>
                <a:latin typeface="Segoe UI"/>
              </a:defRPr>
            </a:pPr>
            <a:r>
              <a:t>TP. Hà Nội, TP. Hải Phòng (gồm Hải Dương), Cao Bằng, Lạng Sơn, Lai Châu, Điện Biên, Sơn La, Quảng Ninh, Tuyên Quang (gồm Hà Giang), Lào Cai (gồm Yên Bái), Thái Nguyên (gồm Bắc Kạn), Phú Thọ (Vĩnh Phúc+Hòa Bình), Bắc Ninh (gồm Bắc Giang), Hưng Yên (gồm Thái Bình), Ninh Bình (Hà Nam+Nam Định), Thanh Hóa, Nghệ An, Hà Tĩnh.</a:t>
            </a:r>
          </a:p>
        </p:txBody>
      </p:sp>
      <p:sp>
        <p:nvSpPr>
          <p:cNvPr id="6" name="Rounded Rectangle 5"/>
          <p:cNvSpPr/>
          <p:nvPr/>
        </p:nvSpPr>
        <p:spPr>
          <a:xfrm>
            <a:off x="731520" y="297180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3108960"/>
            <a:ext cx="10149840" cy="1234440"/>
          </a:xfrm>
          <a:prstGeom prst="rect">
            <a:avLst/>
          </a:prstGeom>
          <a:noFill/>
        </p:spPr>
        <p:txBody>
          <a:bodyPr wrap="square">
            <a:spAutoFit/>
          </a:bodyPr>
          <a:lstStyle/>
          <a:p>
            <a:pPr>
              <a:defRPr b="1" sz="1200">
                <a:solidFill>
                  <a:srgbClr val="16A34A"/>
                </a:solidFill>
                <a:latin typeface="Segoe UI"/>
              </a:defRPr>
            </a:pPr>
            <a:r>
              <a:t>MIỀN NAM (MN) — 9 ĐƠN VỊ</a:t>
            </a:r>
          </a:p>
          <a:p>
            <a:pPr>
              <a:spcBef>
                <a:spcPts val="400"/>
              </a:spcBef>
              <a:defRPr sz="950">
                <a:solidFill>
                  <a:srgbClr val="0F172A"/>
                </a:solidFill>
                <a:latin typeface="Segoe UI"/>
              </a:defRPr>
            </a:pPr>
            <a:r>
              <a:t>TP. Hồ Chí Minh (gồm Bình Dương + Bà Rịa Vũng Tàu), TP. Cần Thơ (gồm Sóc Trăng + Hậu Giang), Lâm Đồng (Đắk Nông + Bình Thuận), Đồng Nai (gồm Bình Phước), Tây Ninh (gồm Long An), Vĩnh Long (Bến Tre + Trà Vinh), Đồng Tháp (gồm Tiền Giang), Cà Mau (gồm Bạc Liêu), An Giang (Kiên Giang + An Giang gồm Đặc khu Phú Quốc).</a:t>
            </a:r>
          </a:p>
        </p:txBody>
      </p:sp>
      <p:sp>
        <p:nvSpPr>
          <p:cNvPr id="8" name="Rounded Rectangle 7"/>
          <p:cNvSpPr/>
          <p:nvPr/>
        </p:nvSpPr>
        <p:spPr>
          <a:xfrm>
            <a:off x="731520" y="4663440"/>
            <a:ext cx="10698480" cy="1508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800600"/>
            <a:ext cx="10149840" cy="1234440"/>
          </a:xfrm>
          <a:prstGeom prst="rect">
            <a:avLst/>
          </a:prstGeom>
          <a:noFill/>
        </p:spPr>
        <p:txBody>
          <a:bodyPr wrap="square">
            <a:spAutoFit/>
          </a:bodyPr>
          <a:lstStyle/>
          <a:p>
            <a:pPr>
              <a:defRPr b="1" sz="1200">
                <a:solidFill>
                  <a:srgbClr val="D97706"/>
                </a:solidFill>
                <a:latin typeface="Segoe UI"/>
              </a:defRPr>
            </a:pPr>
            <a:r>
              <a:t>MIỀN TRUNG (MT) — 7 ĐƠN VỊ</a:t>
            </a:r>
          </a:p>
          <a:p>
            <a:pPr>
              <a:spcBef>
                <a:spcPts val="400"/>
              </a:spcBef>
              <a:defRPr sz="950">
                <a:solidFill>
                  <a:srgbClr val="0F172A"/>
                </a:solidFill>
                <a:latin typeface="Segoe UI"/>
              </a:defRPr>
            </a:pPr>
            <a:r>
              <a:t>TP. Huế (nâng cấp từ TT-Huế), TP. Đà Nẵng (gồm Quảng Nam), Quảng Trị (gồm Quảng Bình), Quảng Ngãi (gồm Kon Tum), Gia Lai (gồm Bình Định), Khánh Hòa (gồm Ninh Thuận), Đắk Lắk (gồm Phú Yên).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IV: QUY CHUẨN ĐÓNG PHIẾU 5.1 &amp; AUTO-CLOSE AN TOÀN (45 PHÚT)</a:t>
            </a:r>
          </a:p>
          <a:p>
            <a:pPr>
              <a:spcBef>
                <a:spcPts val="300"/>
              </a:spcBef>
              <a:defRPr sz="1800" b="1">
                <a:solidFill>
                  <a:srgbClr val="0A192F"/>
                </a:solidFill>
                <a:latin typeface="Segoe UI"/>
              </a:defRPr>
            </a:pPr>
            <a:r>
              <a:t>PHẦN IV: CHEATSHEET NHÓM MÃ NGUYÊN NHÂN ĐÓNG PHIẾU ONEOSS 5.1 (25 PHÚT)</a:t>
            </a:r>
          </a:p>
        </p:txBody>
      </p:sp>
      <p:pic>
        <p:nvPicPr>
          <p:cNvPr id="4" name="Picture 3" descr="ui_cause_dropdown.png"/>
          <p:cNvPicPr>
            <a:picLocks noChangeAspect="1"/>
          </p:cNvPicPr>
          <p:nvPr/>
        </p:nvPicPr>
        <p:blipFill>
          <a:blip r:embed="rId2"/>
          <a:stretch>
            <a:fillRect/>
          </a:stretch>
        </p:blipFill>
        <p:spPr>
          <a:xfrm>
            <a:off x="731520" y="1280160"/>
            <a:ext cx="6217920" cy="4541785"/>
          </a:xfrm>
          <a:prstGeom prst="rect">
            <a:avLst/>
          </a:prstGeom>
        </p:spPr>
      </p:pic>
      <p:sp>
        <p:nvSpPr>
          <p:cNvPr id="5" name="Rounded Rectangle 4"/>
          <p:cNvSpPr/>
          <p:nvPr/>
        </p:nvSpPr>
        <p:spPr>
          <a:xfrm>
            <a:off x="7223760" y="1280160"/>
            <a:ext cx="420624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06640" y="1417320"/>
            <a:ext cx="3840480" cy="4572000"/>
          </a:xfrm>
          <a:prstGeom prst="rect">
            <a:avLst/>
          </a:prstGeom>
          <a:noFill/>
        </p:spPr>
        <p:txBody>
          <a:bodyPr wrap="square">
            <a:spAutoFit/>
          </a:bodyPr>
          <a:lstStyle/>
          <a:p>
            <a:pPr>
              <a:defRPr b="1" sz="1200">
                <a:solidFill>
                  <a:srgbClr val="0A192F"/>
                </a:solidFill>
                <a:latin typeface="Segoe UI"/>
              </a:defRPr>
            </a:pPr>
            <a:r>
              <a:t>CÁC MÃ ONEOSS PHỔ BIẾN NHẤT</a:t>
            </a:r>
          </a:p>
          <a:p>
            <a:pPr>
              <a:spcBef>
                <a:spcPts val="600"/>
              </a:spcBef>
              <a:defRPr sz="900">
                <a:solidFill>
                  <a:srgbClr val="0F172A"/>
                </a:solidFill>
                <a:latin typeface="Segoe UI"/>
              </a:defRPr>
            </a:pPr>
            <a:r>
              <a:t>• 5.1.01: Không đáp ứng do Thuê bao hết lưu lượng / hạ băng thông (mã 10002..10014).</a:t>
            </a:r>
            <a:br/>
            <a:br/>
            <a:r>
              <a:t>• 5.1.02: Không đáp ứng do Thiết bị khách hàng / Cài đặt máy (tắt data, VPN, sai APN).</a:t>
            </a:r>
            <a:br/>
            <a:br/>
            <a:r>
              <a:t>• 5.1.03: Không đáp ứng do Vùng phủ sóng kém (rớt 2G/3G &gt; 50%, RSRP &lt; -105 dBm).</a:t>
            </a:r>
            <a:br/>
            <a:br/>
            <a:r>
              <a:t>• 5.1.04: Chưa khai báo Profile 4G trên Core.</a:t>
            </a:r>
            <a:br/>
            <a:br/>
            <a:r>
              <a:t>• 5.1.05: Trạm phát BTS sự cố / mất điện lưới.</a:t>
            </a:r>
            <a:br/>
            <a:br/>
            <a:r>
              <a:t>• 5.1.06: Đáp ứng - Đã hướng dẫn khách sử dụng.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V: THỰC HÀNH TÌNH HUỐNG &amp; ĐÁNH GIÁ CUỐI KHÓA (45 PHÚT)</a:t>
            </a:r>
          </a:p>
          <a:p>
            <a:pPr>
              <a:spcBef>
                <a:spcPts val="300"/>
              </a:spcBef>
              <a:defRPr sz="1800" b="1">
                <a:solidFill>
                  <a:srgbClr val="0A192F"/>
                </a:solidFill>
                <a:latin typeface="Segoe UI"/>
              </a:defRPr>
            </a:pPr>
            <a:r>
              <a:t>PHẦN V: KỊCH BẢN THỰC HÀNH TÌNH HUỐNG (HANDS-ON LAB - 25 PHÚT)</a:t>
            </a:r>
          </a:p>
        </p:txBody>
      </p:sp>
      <p:sp>
        <p:nvSpPr>
          <p:cNvPr id="4" name="Rounded Rectangle 3"/>
          <p:cNvSpPr/>
          <p:nvPr/>
        </p:nvSpPr>
        <p:spPr>
          <a:xfrm>
            <a:off x="731520" y="128016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17320"/>
            <a:ext cx="4846320" cy="4663440"/>
          </a:xfrm>
          <a:prstGeom prst="rect">
            <a:avLst/>
          </a:prstGeom>
          <a:noFill/>
        </p:spPr>
        <p:txBody>
          <a:bodyPr wrap="square">
            <a:spAutoFit/>
          </a:bodyPr>
          <a:lstStyle/>
          <a:p>
            <a:pPr>
              <a:defRPr b="1" sz="1200">
                <a:solidFill>
                  <a:srgbClr val="0052A5"/>
                </a:solidFill>
                <a:latin typeface="Segoe UI"/>
              </a:defRPr>
            </a:pPr>
            <a:r>
              <a:t>BÀI TẬP 1: THUÊ BAO BÁO MẠNG CHẬM</a:t>
            </a:r>
          </a:p>
          <a:p>
            <a:pPr>
              <a:spcBef>
                <a:spcPts val="800"/>
              </a:spcBef>
              <a:defRPr sz="1000">
                <a:solidFill>
                  <a:srgbClr val="0F172A"/>
                </a:solidFill>
                <a:latin typeface="Segoe UI"/>
              </a:defRPr>
            </a:pPr>
            <a:r>
              <a:t>• Tình huống: Khách hàng 0913xxxxxx báo mạng chậm từ 14:00 chiều qua.</a:t>
            </a:r>
            <a:br/>
            <a:br/>
            <a:r>
              <a:t>• Yêu cầu học viên:</a:t>
            </a:r>
            <a:br/>
            <a:r>
              <a:t>  1. Bấm nút Tiền kiểm trên dòng phiếu.</a:t>
            </a:r>
            <a:br/>
            <a:r>
              <a:t>  2. Mở Card 2 đối soát: Gói cước gì? RSRP bao nhiêu dBm?</a:t>
            </a:r>
            <a:br/>
            <a:r>
              <a:t>  3. Nhìn Card 3 bảng BTools: Tìm mã Service ID (10003?).</a:t>
            </a:r>
            <a:br/>
            <a:r>
              <a:t>  4. Thẩm định kết luận của Bot.</a:t>
            </a:r>
            <a:br/>
            <a:r>
              <a:t>  5. Bấm nút mũi tên xanh (↑) nhận diện Phường/Xã từ trạm BTS.</a:t>
            </a:r>
            <a:br/>
            <a:r>
              <a:t>  6. Chọn mã 5.1.01 và thực hiện đóng phiếu.</a:t>
            </a:r>
          </a:p>
        </p:txBody>
      </p:sp>
      <p:sp>
        <p:nvSpPr>
          <p:cNvPr id="6" name="Rounded Rectangle 5"/>
          <p:cNvSpPr/>
          <p:nvPr/>
        </p:nvSpPr>
        <p:spPr>
          <a:xfrm>
            <a:off x="6217920" y="1280160"/>
            <a:ext cx="5212080" cy="49377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417320"/>
            <a:ext cx="4846320" cy="4663440"/>
          </a:xfrm>
          <a:prstGeom prst="rect">
            <a:avLst/>
          </a:prstGeom>
          <a:noFill/>
        </p:spPr>
        <p:txBody>
          <a:bodyPr wrap="square">
            <a:spAutoFit/>
          </a:bodyPr>
          <a:lstStyle/>
          <a:p>
            <a:pPr>
              <a:defRPr b="1" sz="1200">
                <a:solidFill>
                  <a:srgbClr val="0A192F"/>
                </a:solidFill>
                <a:latin typeface="Segoe UI"/>
              </a:defRPr>
            </a:pPr>
            <a:r>
              <a:t>BÀI TẬP 2: PHIẾU THOẠI Ở BƯỚC 2.3</a:t>
            </a:r>
          </a:p>
          <a:p>
            <a:pPr>
              <a:spcBef>
                <a:spcPts val="800"/>
              </a:spcBef>
              <a:defRPr sz="1000">
                <a:solidFill>
                  <a:srgbClr val="0F172A"/>
                </a:solidFill>
                <a:latin typeface="Segoe UI"/>
              </a:defRPr>
            </a:pPr>
            <a:r>
              <a:t>• Tình huống: Thuê bao phản ánh không gọi đi được đến số cố định.</a:t>
            </a:r>
            <a:br/>
            <a:br/>
            <a:r>
              <a:t>• Yêu cầu học viên:</a:t>
            </a:r>
            <a:br/>
            <a:r>
              <a:t>  1. Chuyển sang Tab 'Cuộc gọi'.</a:t>
            </a:r>
            <a:br/>
            <a:r>
              <a:t>  2. Bấm tiền kiểm hồ sơ thuê bao.</a:t>
            </a:r>
            <a:br/>
            <a:r>
              <a:t>  3. Kiểm tra cờ NAM (0 hay 1?) và trạm VLR phục vụ gần nhất.</a:t>
            </a:r>
            <a:br/>
            <a:r>
              <a:t>  4. Bấm nút Chuyển 2.4 nhanh trên giao diện để đưa phiếu sang bước Đánh giá kết quả mà không tự động fill comment sai lệch.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228600"/>
            <a:ext cx="10698480" cy="868680"/>
          </a:xfrm>
          <a:prstGeom prst="rect">
            <a:avLst/>
          </a:prstGeom>
          <a:noFill/>
        </p:spPr>
        <p:txBody>
          <a:bodyPr wrap="square" lIns="0" tIns="0" rIns="0" bIns="0">
            <a:spAutoFit/>
          </a:bodyPr>
          <a:lstStyle/>
          <a:p>
            <a:pPr>
              <a:defRPr sz="900" b="1">
                <a:solidFill>
                  <a:srgbClr val="0284C7"/>
                </a:solidFill>
                <a:latin typeface="Segoe UI"/>
              </a:defRPr>
            </a:pPr>
            <a:r>
              <a:t>PHẦN V: THỰC HÀNH TÌNH HUỐNG &amp; ĐÁNH GIÁ CUỐI KHÓA (45 PHÚT)</a:t>
            </a:r>
          </a:p>
          <a:p>
            <a:pPr>
              <a:spcBef>
                <a:spcPts val="300"/>
              </a:spcBef>
              <a:defRPr sz="1800" b="1">
                <a:solidFill>
                  <a:srgbClr val="0A192F"/>
                </a:solidFill>
                <a:latin typeface="Segoe UI"/>
              </a:defRPr>
            </a:pPr>
            <a:r>
              <a:t>PHẦN V: BỘ CÂU HỎI ĐÁNH GIÁ CUỐI KHÓA (QUIZ - 20 PHÚT)</a:t>
            </a:r>
          </a:p>
        </p:txBody>
      </p:sp>
      <p:sp>
        <p:nvSpPr>
          <p:cNvPr id="4" name="Rounded Rectangle 3"/>
          <p:cNvSpPr/>
          <p:nvPr/>
        </p:nvSpPr>
        <p:spPr>
          <a:xfrm>
            <a:off x="731520" y="128016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1353312"/>
            <a:ext cx="10149840" cy="731520"/>
          </a:xfrm>
          <a:prstGeom prst="rect">
            <a:avLst/>
          </a:prstGeom>
          <a:noFill/>
        </p:spPr>
        <p:txBody>
          <a:bodyPr wrap="square">
            <a:spAutoFit/>
          </a:bodyPr>
          <a:lstStyle/>
          <a:p>
            <a:pPr>
              <a:defRPr b="1" sz="1050">
                <a:solidFill>
                  <a:srgbClr val="0A192F"/>
                </a:solidFill>
                <a:latin typeface="Segoe UI"/>
              </a:defRPr>
            </a:pPr>
            <a:r>
              <a:t>Câu 1: Bản chất mô hình AI thực chiến trong VNPT TTS Precheck là gì?</a:t>
            </a:r>
          </a:p>
          <a:p>
            <a:pPr>
              <a:spcBef>
                <a:spcPts val="200"/>
              </a:spcBef>
              <a:defRPr sz="950">
                <a:solidFill>
                  <a:srgbClr val="16A34A"/>
                </a:solidFill>
                <a:latin typeface="Segoe UI"/>
              </a:defRPr>
            </a:pPr>
            <a:r>
              <a:t>Đáp án: B. Kết hợp NLP đọc hiểu + Thu thập log mạng thật + Rule Engine.</a:t>
            </a:r>
          </a:p>
        </p:txBody>
      </p:sp>
      <p:sp>
        <p:nvSpPr>
          <p:cNvPr id="6" name="Rounded Rectangle 5"/>
          <p:cNvSpPr/>
          <p:nvPr/>
        </p:nvSpPr>
        <p:spPr>
          <a:xfrm>
            <a:off x="731520" y="228600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59152"/>
            <a:ext cx="10149840" cy="731520"/>
          </a:xfrm>
          <a:prstGeom prst="rect">
            <a:avLst/>
          </a:prstGeom>
          <a:noFill/>
        </p:spPr>
        <p:txBody>
          <a:bodyPr wrap="square">
            <a:spAutoFit/>
          </a:bodyPr>
          <a:lstStyle/>
          <a:p>
            <a:pPr>
              <a:defRPr b="1" sz="1050">
                <a:solidFill>
                  <a:srgbClr val="0A192F"/>
                </a:solidFill>
                <a:latin typeface="Segoe UI"/>
              </a:defRPr>
            </a:pPr>
            <a:r>
              <a:t>Câu 2: Phát hiện Service ID 10003 (128/64k), mã đóng phiếu đúng là gì?</a:t>
            </a:r>
          </a:p>
          <a:p>
            <a:pPr>
              <a:spcBef>
                <a:spcPts val="200"/>
              </a:spcBef>
              <a:defRPr sz="950">
                <a:solidFill>
                  <a:srgbClr val="16A34A"/>
                </a:solidFill>
                <a:latin typeface="Segoe UI"/>
              </a:defRPr>
            </a:pPr>
            <a:r>
              <a:t>Đáp án: C. Hạ băng thông theo chính sách gói cước (hết lưu lượng).</a:t>
            </a:r>
          </a:p>
        </p:txBody>
      </p:sp>
      <p:sp>
        <p:nvSpPr>
          <p:cNvPr id="8" name="Rounded Rectangle 7"/>
          <p:cNvSpPr/>
          <p:nvPr/>
        </p:nvSpPr>
        <p:spPr>
          <a:xfrm>
            <a:off x="731520" y="329184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3364992"/>
            <a:ext cx="10149840" cy="731520"/>
          </a:xfrm>
          <a:prstGeom prst="rect">
            <a:avLst/>
          </a:prstGeom>
          <a:noFill/>
        </p:spPr>
        <p:txBody>
          <a:bodyPr wrap="square">
            <a:spAutoFit/>
          </a:bodyPr>
          <a:lstStyle/>
          <a:p>
            <a:pPr>
              <a:defRPr b="1" sz="1050">
                <a:solidFill>
                  <a:srgbClr val="0A192F"/>
                </a:solidFill>
                <a:latin typeface="Segoe UI"/>
              </a:defRPr>
            </a:pPr>
            <a:r>
              <a:t>Câu 3: Gói D159SC thiếu profile ODA_BIG_OCS trên SAPC, xử lý thế nào?</a:t>
            </a:r>
          </a:p>
          <a:p>
            <a:pPr>
              <a:spcBef>
                <a:spcPts val="200"/>
              </a:spcBef>
              <a:defRPr sz="950">
                <a:solidFill>
                  <a:srgbClr val="16A34A"/>
                </a:solidFill>
                <a:latin typeface="Segoe UI"/>
              </a:defRPr>
            </a:pPr>
            <a:r>
              <a:t>Đáp án: B. Chuyển IT/CCBS kiểm tra khai báo gói cước cho Khách hàng.</a:t>
            </a:r>
          </a:p>
        </p:txBody>
      </p:sp>
      <p:sp>
        <p:nvSpPr>
          <p:cNvPr id="10" name="Rounded Rectangle 9"/>
          <p:cNvSpPr/>
          <p:nvPr/>
        </p:nvSpPr>
        <p:spPr>
          <a:xfrm>
            <a:off x="731520" y="429768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05840" y="4370832"/>
            <a:ext cx="10149840" cy="731520"/>
          </a:xfrm>
          <a:prstGeom prst="rect">
            <a:avLst/>
          </a:prstGeom>
          <a:noFill/>
        </p:spPr>
        <p:txBody>
          <a:bodyPr wrap="square">
            <a:spAutoFit/>
          </a:bodyPr>
          <a:lstStyle/>
          <a:p>
            <a:pPr>
              <a:defRPr b="1" sz="1050">
                <a:solidFill>
                  <a:srgbClr val="0A192F"/>
                </a:solidFill>
                <a:latin typeface="Segoe UI"/>
              </a:defRPr>
            </a:pPr>
            <a:r>
              <a:t>Câu 4: Quy chuẩn địa giới hành chính bắt buộc khi đóng phiếu OneOSS 5.1?</a:t>
            </a:r>
          </a:p>
          <a:p>
            <a:pPr>
              <a:spcBef>
                <a:spcPts val="200"/>
              </a:spcBef>
              <a:defRPr sz="950">
                <a:solidFill>
                  <a:srgbClr val="16A34A"/>
                </a:solidFill>
                <a:latin typeface="Segoe UI"/>
              </a:defRPr>
            </a:pPr>
            <a:r>
              <a:t>Đáp án: B. Định dạng DUY NHẤT 2 cấp: [Phường/Xã], [Tỉnh/TP] (34 Tỉnh mới).</a:t>
            </a:r>
          </a:p>
        </p:txBody>
      </p:sp>
      <p:sp>
        <p:nvSpPr>
          <p:cNvPr id="12" name="Rounded Rectangle 11"/>
          <p:cNvSpPr/>
          <p:nvPr/>
        </p:nvSpPr>
        <p:spPr>
          <a:xfrm>
            <a:off x="731520" y="530352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5376672"/>
            <a:ext cx="10149840" cy="731520"/>
          </a:xfrm>
          <a:prstGeom prst="rect">
            <a:avLst/>
          </a:prstGeom>
          <a:noFill/>
        </p:spPr>
        <p:txBody>
          <a:bodyPr wrap="square">
            <a:spAutoFit/>
          </a:bodyPr>
          <a:lstStyle/>
          <a:p>
            <a:pPr>
              <a:defRPr b="1" sz="1050">
                <a:solidFill>
                  <a:srgbClr val="0A192F"/>
                </a:solidFill>
                <a:latin typeface="Segoe UI"/>
              </a:defRPr>
            </a:pPr>
            <a:r>
              <a:t>Câu 5: Trong tra cứu SMSC Gateway CDR, mã trạng thái Mã 0 nghĩa là gì?</a:t>
            </a:r>
          </a:p>
          <a:p>
            <a:pPr>
              <a:spcBef>
                <a:spcPts val="200"/>
              </a:spcBef>
              <a:defRPr sz="950">
                <a:solidFill>
                  <a:srgbClr val="16A34A"/>
                </a:solidFill>
                <a:latin typeface="Segoe UI"/>
              </a:defRPr>
            </a:pPr>
            <a:r>
              <a:t>Đáp án: A. Tin nhắn đã phát thành công đến thiết bị/SIM của khách hàng.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9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463040"/>
            <a:ext cx="9966960" cy="4114800"/>
          </a:xfrm>
          <a:prstGeom prst="rect">
            <a:avLst/>
          </a:prstGeom>
          <a:noFill/>
        </p:spPr>
        <p:txBody>
          <a:bodyPr wrap="square">
            <a:spAutoFit/>
          </a:bodyPr>
          <a:lstStyle/>
          <a:p>
            <a:pPr>
              <a:defRPr b="1" sz="1400">
                <a:solidFill>
                  <a:srgbClr val="0284C7"/>
                </a:solidFill>
                <a:latin typeface="Segoe UI"/>
              </a:defRPr>
            </a:pPr>
            <a:r>
              <a:t>TỔNG KẾT KHÓA ĐÀO TẠO 5 TIẾNG</a:t>
            </a:r>
          </a:p>
          <a:p>
            <a:pPr>
              <a:spcBef>
                <a:spcPts val="1400"/>
              </a:spcBef>
              <a:defRPr sz="2600" b="1">
                <a:solidFill>
                  <a:srgbClr val="FFFFFF"/>
                </a:solidFill>
                <a:latin typeface="Segoe UI"/>
              </a:defRPr>
            </a:pPr>
            <a:r>
              <a:t>CHÚC CÁC ĐỒNG CHÍ KTV VẬN HÀNH THÀNH CÔNG VÀ CHÍNH XÁC!</a:t>
            </a:r>
          </a:p>
          <a:p>
            <a:pPr>
              <a:spcBef>
                <a:spcPts val="1600"/>
              </a:spcBef>
              <a:defRPr sz="1200">
                <a:solidFill>
                  <a:srgbClr val="E2E8F0"/>
                </a:solidFill>
                <a:latin typeface="Segoe UI"/>
              </a:defRPr>
            </a:pPr>
            <a:r>
              <a:t>1. Dữ liệu là chân lý: Luôn nhìn vào log kỹ thuật (Card 2 &amp; Card 3) trước khi đưa ra nhận định.</a:t>
            </a:r>
            <a:br/>
            <a:r>
              <a:t>2. Chuẩn hóa địa bàn: 1-Click lấy Phường/Xã từ GPS trạm CEM, tuyệt đối không ghi thôn/ấp hay mã trạm.</a:t>
            </a:r>
            <a:br/>
            <a:r>
              <a:t>3. Bảo vệ quyền lợi khách hàng: Gói OCS thiếu ODA_BIG_OCS lập tức chuyển IT/CCBS hỗ trợ.</a:t>
            </a:r>
            <a:br/>
            <a:r>
              <a:t>4. Tự động hóa an toàn: Vận hành Auto-Close có kiểm soát, luôn giữ vững tinh thần Human-in-the-Loop.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